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7" r:id="rId13"/>
    <p:sldId id="269" r:id="rId14"/>
    <p:sldId id="270" r:id="rId15"/>
    <p:sldId id="272" r:id="rId16"/>
  </p:sldIdLst>
  <p:sldSz cx="12192000" cy="6858000"/>
  <p:notesSz cx="6858000" cy="9144000"/>
  <p:embeddedFontLst>
    <p:embeddedFont>
      <p:font typeface="微軟正黑體" panose="020B0604030504040204" pitchFamily="34" charset="-120"/>
      <p:regular r:id="rId17"/>
      <p:bold r:id="rId18"/>
    </p:embeddedFont>
    <p:embeddedFont>
      <p:font typeface="微軟正黑體" panose="020B0604030504040204" pitchFamily="34" charset="-120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84C7"/>
    <a:srgbClr val="168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7469"/>
            <a:ext cx="2578447" cy="3333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4658617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15692"/>
            <a:ext cx="118616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708" y="4115692"/>
            <a:ext cx="118616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218432"/>
            <a:ext cx="242604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38BDF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SENIOR ENGINEER / </a:t>
            </a:r>
            <a:r>
              <a:rPr sz="1200" b="1" i="0" u="none" dirty="0" err="1">
                <a:solidFill>
                  <a:srgbClr val="38BDF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高級工程師</a:t>
            </a:r>
            <a:endParaRPr sz="1200" b="1" i="0" u="none" dirty="0">
              <a:solidFill>
                <a:srgbClr val="38BDF8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685157"/>
            <a:ext cx="3407600" cy="641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sz="4200" b="1" i="0" u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郭至煜 </a:t>
            </a:r>
            <a:r>
              <a:rPr sz="2400" b="0" i="0" u="none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ChihYu Kuo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477517"/>
            <a:ext cx="7367401" cy="2539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國立中正大學 資訊工程研究所 碩士 | 6+ 年軟體研發經驗，深耕軟韌體邊界整合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106167"/>
            <a:ext cx="1225846" cy="184666"/>
          </a:xfrm>
          <a:prstGeom prst="rect">
            <a:avLst/>
          </a:prstGeom>
          <a:noFill/>
        </p:spPr>
        <p:txBody>
          <a:bodyPr wrap="none" lIns="194816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0912-646-085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0708" y="4106167"/>
            <a:ext cx="2067423" cy="184666"/>
          </a:xfrm>
          <a:prstGeom prst="rect">
            <a:avLst/>
          </a:prstGeom>
          <a:noFill/>
        </p:spPr>
        <p:txBody>
          <a:bodyPr wrap="none" lIns="194816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cash3010711@gmail.com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490912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09950" y="3490912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0300" y="3490912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010650" y="3490912"/>
            <a:ext cx="25717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46995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419225"/>
            <a:ext cx="8089779" cy="265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專精於</a:t>
            </a:r>
            <a:r>
              <a:rPr sz="1500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500" b="1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Compiler Toolchain</a:t>
            </a:r>
            <a:r>
              <a:rPr sz="1500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與 </a:t>
            </a:r>
            <a:r>
              <a:rPr sz="1500" b="1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應用軟體開發</a:t>
            </a:r>
            <a:r>
              <a:rPr sz="1500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，具備極強的軟韌體協同調試與客製化交付能力</a:t>
            </a:r>
            <a:r>
              <a:rPr sz="1500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7435" y="3805237"/>
            <a:ext cx="896078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167" y="4405312"/>
            <a:ext cx="182261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跨領域軟硬體 AP 專案交付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7785" y="3805237"/>
            <a:ext cx="896078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0315" y="4405312"/>
            <a:ext cx="16110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晶片與 IC 款式軟體整合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0277" y="3805237"/>
            <a:ext cx="1171795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404" y="4405312"/>
            <a:ext cx="182954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Toolchain 與客訴問題解決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4559" y="3805237"/>
            <a:ext cx="1243930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7083" y="4405312"/>
            <a:ext cx="153888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核心軟體架構獨立設計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7F3EA2C0-3940-529C-9505-9E012CB51966}"/>
              </a:ext>
            </a:extLst>
          </p:cNvPr>
          <p:cNvSpPr txBox="1"/>
          <p:nvPr/>
        </p:nvSpPr>
        <p:spPr>
          <a:xfrm>
            <a:off x="609600" y="720283"/>
            <a:ext cx="307776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個人定位與核心影響力</a:t>
            </a:r>
            <a:endParaRPr sz="24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2309812"/>
            <a:ext cx="5381625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191250" y="2309812"/>
            <a:ext cx="5381625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19125" y="3995737"/>
            <a:ext cx="5381625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91250" y="3995737"/>
            <a:ext cx="5381625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57250" y="2919412"/>
            <a:ext cx="1575643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09093" y="2919412"/>
            <a:ext cx="920948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06241" y="2919412"/>
            <a:ext cx="1165473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47914" y="2919412"/>
            <a:ext cx="770185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57250" y="3262312"/>
            <a:ext cx="669131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29375" y="2919412"/>
            <a:ext cx="891182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96757" y="2919412"/>
            <a:ext cx="1106983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582301" y="2919412"/>
            <a:ext cx="905916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64418" y="2919412"/>
            <a:ext cx="869007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29375" y="3281362"/>
            <a:ext cx="1202233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57250" y="4605337"/>
            <a:ext cx="1609873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43323" y="4605337"/>
            <a:ext cx="1266676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86200" y="4605337"/>
            <a:ext cx="1614487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57250" y="4967287"/>
            <a:ext cx="1423392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29375" y="4605337"/>
            <a:ext cx="1476672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982247" y="4605337"/>
            <a:ext cx="1296144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54591" y="4605337"/>
            <a:ext cx="1172765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29375" y="4967287"/>
            <a:ext cx="1587847" cy="2667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2576512"/>
            <a:ext cx="148232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576512"/>
            <a:ext cx="148232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62437"/>
            <a:ext cx="148232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4262437"/>
            <a:ext cx="148232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533400"/>
            <a:ext cx="144430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CORE COMPETENCIES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50" y="2547937"/>
            <a:ext cx="3783110" cy="230832"/>
          </a:xfrm>
          <a:prstGeom prst="rect">
            <a:avLst/>
          </a:prstGeom>
          <a:noFill/>
        </p:spPr>
        <p:txBody>
          <a:bodyPr wrap="none" lIns="24348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編譯器與工具鏈 (Compiler &amp; Toolchain)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2547937"/>
            <a:ext cx="2991804" cy="230832"/>
          </a:xfrm>
          <a:prstGeom prst="rect">
            <a:avLst/>
          </a:prstGeom>
          <a:noFill/>
        </p:spPr>
        <p:txBody>
          <a:bodyPr wrap="none" lIns="24348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應用層與跨平台 (App &amp; UI/UX)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7250" y="4233862"/>
            <a:ext cx="4152698" cy="230832"/>
          </a:xfrm>
          <a:prstGeom prst="rect">
            <a:avLst/>
          </a:prstGeom>
          <a:noFill/>
        </p:spPr>
        <p:txBody>
          <a:bodyPr wrap="none" lIns="24348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硬體通訊協議 (Hardware Protocol &amp; Driver)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9375" y="4233862"/>
            <a:ext cx="4253367" cy="230832"/>
          </a:xfrm>
          <a:prstGeom prst="rect">
            <a:avLst/>
          </a:prstGeom>
          <a:noFill/>
        </p:spPr>
        <p:txBody>
          <a:bodyPr wrap="none" lIns="243482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軟體模擬與工程化 (Simulator &amp; Engineering)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" y="2967037"/>
            <a:ext cx="148039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Compiler / Assembler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4343" y="2967037"/>
            <a:ext cx="825698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Linker / 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1491" y="2967037"/>
            <a:ext cx="107022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SDCC / eUIDEII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3164" y="2967037"/>
            <a:ext cx="67493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NuWriter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2500" y="3309937"/>
            <a:ext cx="57388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 / C++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4625" y="2967037"/>
            <a:ext cx="7959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.NET MAUI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2007" y="2967037"/>
            <a:ext cx="97298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1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C# / </a:t>
            </a:r>
            <a:r>
              <a:rPr lang="en-US" sz="1050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WinForms</a:t>
            </a:r>
            <a:endParaRPr sz="1050" b="1" i="0" u="none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677551" y="2967037"/>
            <a:ext cx="81066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跨平台</a:t>
            </a:r>
            <a:r>
              <a:rPr sz="1050" b="1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59668" y="2967037"/>
            <a:ext cx="77375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UI/UX 設計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4625" y="3328987"/>
            <a:ext cx="110698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Config 公版架構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500" y="4652962"/>
            <a:ext cx="151462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USB / HID / 自定義協議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38573" y="4652962"/>
            <a:ext cx="117142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IAP 韌體更新串接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81450" y="4652962"/>
            <a:ext cx="151923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BLE (Bluetooth/GATT)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500" y="5014912"/>
            <a:ext cx="132814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WinUSB / SiUSBXp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4625" y="4652962"/>
            <a:ext cx="138142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Simulator AP 模擬器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7497" y="4652962"/>
            <a:ext cx="1200894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IDE DLL 調試控制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49841" y="4652962"/>
            <a:ext cx="1077515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Macro 引擎模組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4625" y="5014912"/>
            <a:ext cx="1492597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SVN / Version Control</a:t>
            </a: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E4234436-6956-4864-9CCA-8D84D1EC886B}"/>
              </a:ext>
            </a:extLst>
          </p:cNvPr>
          <p:cNvSpPr txBox="1"/>
          <p:nvPr/>
        </p:nvSpPr>
        <p:spPr>
          <a:xfrm>
            <a:off x="589334" y="718774"/>
            <a:ext cx="47298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關鍵技術專長</a:t>
            </a:r>
            <a:r>
              <a:rPr sz="240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Technical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90894"/>
            <a:ext cx="10953750" cy="8048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2629106"/>
            <a:ext cx="10953750" cy="8048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3567319"/>
            <a:ext cx="10953750" cy="8048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1690894"/>
            <a:ext cx="38100" cy="80486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2629106"/>
            <a:ext cx="38100" cy="80486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3567319"/>
            <a:ext cx="38100" cy="80486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86108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PROFESSIONAL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23900"/>
            <a:ext cx="690823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義隆電子</a:t>
            </a:r>
            <a:r>
              <a:rPr sz="240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(ELAN Microelectronics) — </a:t>
            </a:r>
            <a:r>
              <a:rPr sz="24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高級工程師</a:t>
            </a:r>
            <a:endParaRPr sz="240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7006" y="895350"/>
            <a:ext cx="131869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2020/03 -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788976"/>
            <a:ext cx="245919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</a:t>
            </a:r>
            <a:r>
              <a:rPr sz="135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Toolchain </a:t>
            </a:r>
            <a:r>
              <a:rPr sz="13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與開發工具維護</a:t>
            </a:r>
            <a:endParaRPr sz="135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8200" y="2074726"/>
            <a:ext cx="9967865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負責 eUIDEII 編譯體系 (Compiler/Assembler/Linker/Lib) 與 NuWriter 燒錄軟體之客訴修復與新功能開發，解決 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190+ 項關鍵問題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；並參與 SDCC (Small Device C Compiler) 工具鏈核心建置。</a:t>
            </a:r>
            <a:endParaRPr sz="1125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8200" y="2736241"/>
            <a:ext cx="3489356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電競滑鼠高階設定軟體</a:t>
            </a:r>
            <a:r>
              <a:rPr sz="135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(AP) </a:t>
            </a:r>
            <a:r>
              <a:rPr sz="13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與自定義協議</a:t>
            </a:r>
            <a:endParaRPr sz="135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8200" y="3021991"/>
            <a:ext cx="10304731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主導滑鼠 AP 全棧架構，撰寫 HID 通訊程式與自家 8 位元 MCU 韌體之自定義協議進行深度對接；支援按鍵自定義、DPI 微調、RGB 燈效控制、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動態巨集 (Macro) 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編輯與匯入匯出、三語語系切換，並配合韌體端之 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IAP (In-Application Programming)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機制完成線上更新流程串接；同時設計可透過修改 CFG 快速交付的公版架構。</a:t>
            </a:r>
            <a:endParaRPr sz="1125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8200" y="3719719"/>
            <a:ext cx="245919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主動筆</a:t>
            </a:r>
            <a:r>
              <a:rPr sz="135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Simulator </a:t>
            </a:r>
            <a:r>
              <a:rPr lang="zh-TW" altLang="en-US" sz="135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偵錯工具</a:t>
            </a:r>
            <a:r>
              <a:rPr sz="13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</a:t>
            </a:r>
            <a:endParaRPr sz="135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8200" y="4005469"/>
            <a:ext cx="1046280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負責主動筆 Simulator AP 之 IDE 核心偵錯控制層 (DLL) 開發，精準實現 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Single Step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Free Run 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等底層模擬與狀態追蹤偵錯機制，賦能研發團隊高效驗證晶片行為。</a:t>
            </a:r>
            <a:endParaRPr sz="1125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DED854-33CE-C331-A2D0-FEFAC159DB12}"/>
              </a:ext>
            </a:extLst>
          </p:cNvPr>
          <p:cNvSpPr/>
          <p:nvPr/>
        </p:nvSpPr>
        <p:spPr>
          <a:xfrm>
            <a:off x="609600" y="4502231"/>
            <a:ext cx="10953750" cy="8048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67A13388-23F2-182B-EC98-6007E6787F39}"/>
              </a:ext>
            </a:extLst>
          </p:cNvPr>
          <p:cNvSpPr/>
          <p:nvPr/>
        </p:nvSpPr>
        <p:spPr>
          <a:xfrm>
            <a:off x="609600" y="4502231"/>
            <a:ext cx="38100" cy="80486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1FA7A463-85FE-FAC5-997B-96FAEA88590E}"/>
              </a:ext>
            </a:extLst>
          </p:cNvPr>
          <p:cNvSpPr txBox="1"/>
          <p:nvPr/>
        </p:nvSpPr>
        <p:spPr>
          <a:xfrm>
            <a:off x="838200" y="4609366"/>
            <a:ext cx="289983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TW" altLang="zh-TW" sz="1350" b="1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跨平台 Mobile App &amp; 車載/無線應用</a:t>
            </a:r>
            <a:endParaRPr sz="1350" b="1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C8236B41-F690-28A1-B105-5DE244946606}"/>
              </a:ext>
            </a:extLst>
          </p:cNvPr>
          <p:cNvSpPr txBox="1"/>
          <p:nvPr/>
        </p:nvSpPr>
        <p:spPr>
          <a:xfrm>
            <a:off x="838200" y="4895116"/>
            <a:ext cx="1043006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負責智慧天窗手機 APP 全軟體開發，整合 BLE 無線藍芽通訊與 FW 溝通協定；整合 Nordic/Realtek BLE 於 .NET MAUI 平台，成功展示於 Computex 大展，並順利推廣交付 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10+ 客戶前瞻 PoC 評估專案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sz="1125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7E70E997-4EC4-AF4D-03A9-0B286078650E}"/>
              </a:ext>
            </a:extLst>
          </p:cNvPr>
          <p:cNvSpPr/>
          <p:nvPr/>
        </p:nvSpPr>
        <p:spPr>
          <a:xfrm>
            <a:off x="609600" y="5441953"/>
            <a:ext cx="10953750" cy="8048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393E4960-EE7C-DA27-3654-CE04CFA2B617}"/>
              </a:ext>
            </a:extLst>
          </p:cNvPr>
          <p:cNvSpPr/>
          <p:nvPr/>
        </p:nvSpPr>
        <p:spPr>
          <a:xfrm>
            <a:off x="609600" y="5441953"/>
            <a:ext cx="38100" cy="80486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EF4DC8C0-7610-713B-736E-06CC26989434}"/>
              </a:ext>
            </a:extLst>
          </p:cNvPr>
          <p:cNvSpPr txBox="1"/>
          <p:nvPr/>
        </p:nvSpPr>
        <p:spPr>
          <a:xfrm>
            <a:off x="838200" y="5540035"/>
            <a:ext cx="173124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zh-TW" altLang="zh-TW" sz="1350" b="1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底層驅動與系統現代化</a:t>
            </a:r>
            <a:endParaRPr sz="1350" b="1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276B4502-4A5E-C0D2-E8DE-BA060018EC25}"/>
              </a:ext>
            </a:extLst>
          </p:cNvPr>
          <p:cNvSpPr txBox="1"/>
          <p:nvPr/>
        </p:nvSpPr>
        <p:spPr>
          <a:xfrm>
            <a:off x="838200" y="5825785"/>
            <a:ext cx="10468169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針對舊版 Silicon Labs SiUSBXp 驅動版本過舊導致部分客戶無法連線的痛點，為突破原 VC6 開發環境無法直接相容新版 Windows SDK 的限制，主導以 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VS2022 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 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Bridge DLL 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架構，成功完成核心架構驗證，並推進燒錄工具平滑升級至現代化 </a:t>
            </a:r>
            <a:r>
              <a:rPr lang="zh-TW" altLang="zh-TW" sz="1125" dirty="0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WinUSB</a:t>
            </a:r>
            <a:r>
              <a:rPr lang="zh-TW" altLang="zh-TW" sz="112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之收尾階段，根除連線障礙。</a:t>
            </a:r>
            <a:endParaRPr sz="1125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1428750"/>
            <a:ext cx="10953750" cy="4895850"/>
          </a:xfrm>
          <a:prstGeom prst="roundRect">
            <a:avLst>
              <a:gd name="adj" fmla="val 23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125" y="63150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9125" y="1428750"/>
            <a:ext cx="10953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25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63350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211275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REPRESENTATIVE PROJECT (1/5)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5368906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eUIDEII 編譯器與工具鏈 (Toolchain)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0A20F1A7-E004-ABDC-B8F0-167A6C57D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97" y="1789956"/>
            <a:ext cx="5123848" cy="2775418"/>
          </a:xfrm>
          <a:prstGeom prst="rect">
            <a:avLst/>
          </a:prstGeom>
        </p:spPr>
      </p:pic>
      <p:pic>
        <p:nvPicPr>
          <p:cNvPr id="22" name="Picture 6" descr="image.png">
            <a:extLst>
              <a:ext uri="{FF2B5EF4-FFF2-40B4-BE49-F238E27FC236}">
                <a16:creationId xmlns:a16="http://schemas.microsoft.com/office/drawing/2014/main" id="{66A4F1DB-8BE7-F43A-9E1B-489EA3587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46" y="4853094"/>
            <a:ext cx="133498" cy="171450"/>
          </a:xfrm>
          <a:prstGeom prst="rect">
            <a:avLst/>
          </a:prstGeom>
        </p:spPr>
      </p:pic>
      <p:sp>
        <p:nvSpPr>
          <p:cNvPr id="24" name="TextBox 9">
            <a:extLst>
              <a:ext uri="{FF2B5EF4-FFF2-40B4-BE49-F238E27FC236}">
                <a16:creationId xmlns:a16="http://schemas.microsoft.com/office/drawing/2014/main" id="{8E9E890A-562A-13FF-DF3D-2E6FB848B757}"/>
              </a:ext>
            </a:extLst>
          </p:cNvPr>
          <p:cNvSpPr txBox="1"/>
          <p:nvPr/>
        </p:nvSpPr>
        <p:spPr>
          <a:xfrm>
            <a:off x="1256546" y="4824519"/>
            <a:ext cx="1789101" cy="207749"/>
          </a:xfrm>
          <a:prstGeom prst="rect">
            <a:avLst/>
          </a:prstGeom>
          <a:noFill/>
        </p:spPr>
        <p:txBody>
          <a:bodyPr wrap="none" lIns="22874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核心維護與技術亮點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FA1C6524-EE21-D749-FFAD-C0CF06E4E7B8}"/>
              </a:ext>
            </a:extLst>
          </p:cNvPr>
          <p:cNvSpPr txBox="1"/>
          <p:nvPr/>
        </p:nvSpPr>
        <p:spPr>
          <a:xfrm>
            <a:off x="1256546" y="5184855"/>
            <a:ext cx="6211765" cy="84863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負責 </a:t>
            </a:r>
            <a:r>
              <a:rPr lang="en-US" altLang="zh-TW" sz="1275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eUIDEII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編譯體系 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(Compiler / Assembler / Linker / Lib)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核心架構維護。</a:t>
            </a:r>
            <a:endParaRPr lang="en-US" altLang="zh-TW" sz="1275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累積處理並解決超過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190+ 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項關鍵客訴與工具鏈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Issue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深度參與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SDCC (Small Device C Compiler)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開源工具鏈核心建置與在地化客製。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1428750"/>
            <a:ext cx="10953750" cy="4895850"/>
          </a:xfrm>
          <a:prstGeom prst="roundRect">
            <a:avLst>
              <a:gd name="adj" fmla="val 23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125" y="63150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9125" y="1428750"/>
            <a:ext cx="10953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25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63350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546" y="4856286"/>
            <a:ext cx="133498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211275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REPRESENTATIVE PROJECT (2/5)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2860270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NuWriter</a:t>
            </a:r>
            <a:r>
              <a:rPr sz="255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255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燒錄軟體</a:t>
            </a:r>
            <a:endParaRPr sz="2550" b="1" i="0" u="none" dirty="0">
              <a:solidFill>
                <a:srgbClr val="0F172A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6546" y="4827711"/>
            <a:ext cx="2135349" cy="207749"/>
          </a:xfrm>
          <a:prstGeom prst="rect">
            <a:avLst/>
          </a:prstGeom>
          <a:noFill/>
        </p:spPr>
        <p:txBody>
          <a:bodyPr wrap="none" lIns="228748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燒錄工具升級與架構突破</a:t>
            </a:r>
            <a:endParaRPr sz="1350" b="1" i="0" u="none" dirty="0">
              <a:solidFill>
                <a:srgbClr val="0369A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F23FFC5E-70E9-9711-D7DF-F28C0DD9B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740" y="1814402"/>
            <a:ext cx="2619882" cy="341908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92D7E9B7-FFE1-BEAC-51E2-C49ADC4FB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996" y="1814402"/>
            <a:ext cx="5123848" cy="2775418"/>
          </a:xfrm>
          <a:prstGeom prst="rect">
            <a:avLst/>
          </a:prstGeom>
        </p:spPr>
      </p:pic>
      <p:sp>
        <p:nvSpPr>
          <p:cNvPr id="40" name="TextBox 11">
            <a:extLst>
              <a:ext uri="{FF2B5EF4-FFF2-40B4-BE49-F238E27FC236}">
                <a16:creationId xmlns:a16="http://schemas.microsoft.com/office/drawing/2014/main" id="{5BAB6A2D-EC19-8E84-1280-1D30E65BC63B}"/>
              </a:ext>
            </a:extLst>
          </p:cNvPr>
          <p:cNvSpPr txBox="1"/>
          <p:nvPr/>
        </p:nvSpPr>
        <p:spPr>
          <a:xfrm>
            <a:off x="1256546" y="5183247"/>
            <a:ext cx="8841459" cy="84863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marL="285750" indent="-285750" algn="l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主導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75" b="1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NuWriter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燒錄軟體之功能擴充與多晶片燒錄支援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275" b="0" i="0" u="none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為解決舊版 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Silicon Labs </a:t>
            </a:r>
            <a:r>
              <a:rPr lang="en-US" altLang="zh-TW" sz="1275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SiUSBXp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驅動版本過舊導致部分新系統無法連線的痛點。</a:t>
            </a: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主導設計以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VS2022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Bridge DLL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架構，成功打通並實現燒錄工具升級至現代化 </a:t>
            </a:r>
            <a:r>
              <a:rPr lang="en-US" altLang="zh-TW" sz="1275" b="1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WinUSB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之核心驗證與收尾階段。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1428750"/>
            <a:ext cx="10953750" cy="4895850"/>
          </a:xfrm>
          <a:prstGeom prst="roundRect">
            <a:avLst>
              <a:gd name="adj" fmla="val 23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125" y="63150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9125" y="1428750"/>
            <a:ext cx="10953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25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63350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211275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REPRESENTATIVE PROJECT (3/5)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4023537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電競滑鼠高階設定軟體 (AP)</a:t>
            </a:r>
          </a:p>
        </p:txBody>
      </p:sp>
      <p:pic>
        <p:nvPicPr>
          <p:cNvPr id="18" name="Picture 6" descr="image.png">
            <a:extLst>
              <a:ext uri="{FF2B5EF4-FFF2-40B4-BE49-F238E27FC236}">
                <a16:creationId xmlns:a16="http://schemas.microsoft.com/office/drawing/2014/main" id="{78629337-610D-9A3C-40ED-EBEF2657C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546" y="4858874"/>
            <a:ext cx="133498" cy="171450"/>
          </a:xfrm>
          <a:prstGeom prst="rect">
            <a:avLst/>
          </a:prstGeom>
        </p:spPr>
      </p:pic>
      <p:sp>
        <p:nvSpPr>
          <p:cNvPr id="20" name="TextBox 9">
            <a:extLst>
              <a:ext uri="{FF2B5EF4-FFF2-40B4-BE49-F238E27FC236}">
                <a16:creationId xmlns:a16="http://schemas.microsoft.com/office/drawing/2014/main" id="{4B46820A-9108-E356-9460-0E724E6B5557}"/>
              </a:ext>
            </a:extLst>
          </p:cNvPr>
          <p:cNvSpPr txBox="1"/>
          <p:nvPr/>
        </p:nvSpPr>
        <p:spPr>
          <a:xfrm>
            <a:off x="1256546" y="4830299"/>
            <a:ext cx="1789101" cy="207749"/>
          </a:xfrm>
          <a:prstGeom prst="rect">
            <a:avLst/>
          </a:prstGeom>
          <a:noFill/>
        </p:spPr>
        <p:txBody>
          <a:bodyPr wrap="none" lIns="228748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全棧架構與韌體協同</a:t>
            </a:r>
            <a:endParaRPr sz="1350" b="1" i="0" u="none" dirty="0">
              <a:solidFill>
                <a:srgbClr val="0369A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E85ED70C-92B3-FC77-6ABA-EEA4F2F2B9C5}"/>
              </a:ext>
            </a:extLst>
          </p:cNvPr>
          <p:cNvSpPr txBox="1"/>
          <p:nvPr/>
        </p:nvSpPr>
        <p:spPr>
          <a:xfrm>
            <a:off x="1256546" y="5175216"/>
            <a:ext cx="9410525" cy="84863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主導滑鼠 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全棧架構，撰寫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HID 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通訊程式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與自家 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位元 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MCU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韌體自定義協議深度對接。</a:t>
            </a:r>
            <a:endParaRPr lang="en-US" altLang="zh-TW" sz="1275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支援按鍵自定義、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DPI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微調、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RGB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燈效控制、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動態巨集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(Macro) 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編輯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與多語系切換。</a:t>
            </a: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配合韌體端之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IAP (In-Application Programming)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機制完成線上韌體更新；設計可透過修改 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CFG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快速交付的高效公版架構。</a:t>
            </a:r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514FD5B8-6E12-4EBD-F254-642D447C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326" y="1773510"/>
            <a:ext cx="4880324" cy="2696727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FF7747C3-AB74-CB09-D78C-CFB9E0E8A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608" y="1778559"/>
            <a:ext cx="4561317" cy="26916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9125" y="1428750"/>
            <a:ext cx="10953750" cy="4895850"/>
          </a:xfrm>
          <a:prstGeom prst="roundRect">
            <a:avLst>
              <a:gd name="adj" fmla="val 23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125" y="63150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9125" y="1428750"/>
            <a:ext cx="10953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25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63350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211275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REPRESENTATIVE PROJECT (4/5)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4974119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智慧天窗藍牙手機 App (BLE App)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6D382236-C64B-5BB3-D7D7-8B1C32C512C1}"/>
              </a:ext>
            </a:extLst>
          </p:cNvPr>
          <p:cNvSpPr txBox="1"/>
          <p:nvPr/>
        </p:nvSpPr>
        <p:spPr>
          <a:xfrm>
            <a:off x="4883747" y="4185241"/>
            <a:ext cx="1962225" cy="207749"/>
          </a:xfrm>
          <a:prstGeom prst="rect">
            <a:avLst/>
          </a:prstGeom>
          <a:noFill/>
        </p:spPr>
        <p:txBody>
          <a:bodyPr wrap="square" lIns="228748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跨平台應用與無線控制</a:t>
            </a:r>
            <a:endParaRPr sz="1350" b="1" i="0" u="none" dirty="0">
              <a:solidFill>
                <a:srgbClr val="0369A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58D61CB1-93CF-8522-F926-435D6300199C}"/>
              </a:ext>
            </a:extLst>
          </p:cNvPr>
          <p:cNvSpPr txBox="1"/>
          <p:nvPr/>
        </p:nvSpPr>
        <p:spPr>
          <a:xfrm>
            <a:off x="4858905" y="4522258"/>
            <a:ext cx="5549661" cy="1438535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marL="285750" indent="-285750" algn="l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運用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75" b="1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.NET MAUI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實現跨平台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(iOS / Android) </a:t>
            </a: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智慧天窗手機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App </a:t>
            </a: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275" b="0" i="0" u="none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 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Nordic / Realtek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BLE (Bluetooth Low Energy) 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無線藍牙通訊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與韌體溝通協定。</a:t>
            </a: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完成車載遠端操控與狀態即時同步，成功展示於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Computex 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大展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並順利交付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10+ 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客戶前瞻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PoC 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評估專案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pic>
        <p:nvPicPr>
          <p:cNvPr id="22" name="Picture 6" descr="image.png">
            <a:extLst>
              <a:ext uri="{FF2B5EF4-FFF2-40B4-BE49-F238E27FC236}">
                <a16:creationId xmlns:a16="http://schemas.microsoft.com/office/drawing/2014/main" id="{D2C2B7AC-A2DE-AA8A-C0D2-DA3706F5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747" y="4213816"/>
            <a:ext cx="133498" cy="17145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346B92FE-C28C-7FDE-C840-7BBEC4BB6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4860" y="2993143"/>
            <a:ext cx="1626109" cy="3138647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00DF0C71-06BF-CFC5-941A-41BF71E8D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51" y="2999476"/>
            <a:ext cx="1678407" cy="313231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DE07D5A-01E9-37B7-CCD7-6B26AA267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524" y="3137940"/>
            <a:ext cx="1584627" cy="1312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11C42CB5-51A9-70E9-0A9D-8174FB3E4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588" y="3137940"/>
            <a:ext cx="1756158" cy="131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3" name="群組 92">
            <a:extLst>
              <a:ext uri="{FF2B5EF4-FFF2-40B4-BE49-F238E27FC236}">
                <a16:creationId xmlns:a16="http://schemas.microsoft.com/office/drawing/2014/main" id="{80E84FCB-CE59-60CE-2ADB-82BE6B04DAD5}"/>
              </a:ext>
            </a:extLst>
          </p:cNvPr>
          <p:cNvGrpSpPr/>
          <p:nvPr/>
        </p:nvGrpSpPr>
        <p:grpSpPr>
          <a:xfrm>
            <a:off x="1051560" y="1880010"/>
            <a:ext cx="2304288" cy="685800"/>
            <a:chOff x="548640" y="1371600"/>
            <a:chExt cx="2304288" cy="685800"/>
          </a:xfrm>
        </p:grpSpPr>
        <p:sp>
          <p:nvSpPr>
            <p:cNvPr id="29" name="Stage 1 card">
              <a:extLst>
                <a:ext uri="{FF2B5EF4-FFF2-40B4-BE49-F238E27FC236}">
                  <a16:creationId xmlns:a16="http://schemas.microsoft.com/office/drawing/2014/main" id="{A52EBD11-198F-B2AF-39D7-71290102FB74}"/>
                </a:ext>
              </a:extLst>
            </p:cNvPr>
            <p:cNvSpPr/>
            <p:nvPr/>
          </p:nvSpPr>
          <p:spPr>
            <a:xfrm>
              <a:off x="548640" y="1371600"/>
              <a:ext cx="2284160" cy="685800"/>
            </a:xfrm>
            <a:prstGeom prst="roundRect">
              <a:avLst>
                <a:gd name="adj" fmla="val 5882"/>
              </a:avLst>
            </a:prstGeom>
            <a:solidFill>
              <a:srgbClr val="0A84C6"/>
            </a:solidFill>
            <a:ln w="12700">
              <a:solidFill>
                <a:srgbClr val="0A84C6"/>
              </a:solidFill>
              <a:prstDash val="solid"/>
            </a:ln>
            <a:effectLst>
              <a:outerShdw blurRad="101600" dist="25400" dir="5400000" algn="bl" rotWithShape="0">
                <a:srgbClr val="0B1F3A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0" name="Text 4">
              <a:extLst>
                <a:ext uri="{FF2B5EF4-FFF2-40B4-BE49-F238E27FC236}">
                  <a16:creationId xmlns:a16="http://schemas.microsoft.com/office/drawing/2014/main" id="{4B1EE84B-5CBD-4BD4-52F8-F81807F661F2}"/>
                </a:ext>
              </a:extLst>
            </p:cNvPr>
            <p:cNvSpPr txBox="1"/>
            <p:nvPr/>
          </p:nvSpPr>
          <p:spPr>
            <a:xfrm>
              <a:off x="777240" y="1418700"/>
              <a:ext cx="126980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手機 APP 互動</a:t>
              </a:r>
              <a:endParaRPr lang="en-US" sz="1200" dirty="0"/>
            </a:p>
          </p:txBody>
        </p:sp>
        <p:sp>
          <p:nvSpPr>
            <p:cNvPr id="31" name="Text 5">
              <a:extLst>
                <a:ext uri="{FF2B5EF4-FFF2-40B4-BE49-F238E27FC236}">
                  <a16:creationId xmlns:a16="http://schemas.microsoft.com/office/drawing/2014/main" id="{67130024-4EE2-AD01-7A48-E09CFEA991F3}"/>
                </a:ext>
              </a:extLst>
            </p:cNvPr>
            <p:cNvSpPr txBox="1"/>
            <p:nvPr/>
          </p:nvSpPr>
          <p:spPr>
            <a:xfrm>
              <a:off x="777240" y="1773504"/>
              <a:ext cx="2075688" cy="21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藍牙發送控制指令與明暗數值</a:t>
              </a:r>
              <a:endParaRPr lang="en-US" sz="1100" dirty="0"/>
            </a:p>
          </p:txBody>
        </p:sp>
      </p:grpSp>
      <p:sp>
        <p:nvSpPr>
          <p:cNvPr id="32" name="Arrow 1">
            <a:extLst>
              <a:ext uri="{FF2B5EF4-FFF2-40B4-BE49-F238E27FC236}">
                <a16:creationId xmlns:a16="http://schemas.microsoft.com/office/drawing/2014/main" id="{E1E96166-4B24-1AB3-B65C-84D6FC34E8DC}"/>
              </a:ext>
            </a:extLst>
          </p:cNvPr>
          <p:cNvSpPr/>
          <p:nvPr/>
        </p:nvSpPr>
        <p:spPr>
          <a:xfrm>
            <a:off x="3429000" y="2091702"/>
            <a:ext cx="173736" cy="274320"/>
          </a:xfrm>
          <a:prstGeom prst="chevron">
            <a:avLst/>
          </a:prstGeom>
          <a:solidFill>
            <a:srgbClr val="0A84C6"/>
          </a:solidFill>
          <a:ln w="12700">
            <a:solidFill>
              <a:srgbClr val="0A84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41C449C0-F952-14D1-204E-D5501A9DEA07}"/>
              </a:ext>
            </a:extLst>
          </p:cNvPr>
          <p:cNvGrpSpPr/>
          <p:nvPr/>
        </p:nvGrpSpPr>
        <p:grpSpPr>
          <a:xfrm>
            <a:off x="3675888" y="1537110"/>
            <a:ext cx="2284160" cy="685800"/>
            <a:chOff x="3401568" y="1371600"/>
            <a:chExt cx="2284160" cy="685800"/>
          </a:xfrm>
        </p:grpSpPr>
        <p:sp>
          <p:nvSpPr>
            <p:cNvPr id="33" name="Stage 2 card">
              <a:extLst>
                <a:ext uri="{FF2B5EF4-FFF2-40B4-BE49-F238E27FC236}">
                  <a16:creationId xmlns:a16="http://schemas.microsoft.com/office/drawing/2014/main" id="{CA912B62-494D-DC82-BD45-23FB0502D2AE}"/>
                </a:ext>
              </a:extLst>
            </p:cNvPr>
            <p:cNvSpPr/>
            <p:nvPr/>
          </p:nvSpPr>
          <p:spPr>
            <a:xfrm>
              <a:off x="3401568" y="1371600"/>
              <a:ext cx="2284160" cy="685800"/>
            </a:xfrm>
            <a:prstGeom prst="roundRect">
              <a:avLst>
                <a:gd name="adj" fmla="val 5882"/>
              </a:avLst>
            </a:prstGeom>
            <a:solidFill>
              <a:srgbClr val="F3F7FB"/>
            </a:solidFill>
            <a:ln w="12700">
              <a:solidFill>
                <a:srgbClr val="D5E1EC"/>
              </a:solidFill>
              <a:prstDash val="solid"/>
            </a:ln>
            <a:effectLst>
              <a:outerShdw blurRad="101600" dist="25400" dir="5400000" algn="bl" rotWithShape="0">
                <a:srgbClr val="0B1F3A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C285868C-5722-6D46-8FC4-59C419168F9F}"/>
                </a:ext>
              </a:extLst>
            </p:cNvPr>
            <p:cNvSpPr txBox="1"/>
            <p:nvPr/>
          </p:nvSpPr>
          <p:spPr>
            <a:xfrm>
              <a:off x="3584448" y="1418700"/>
              <a:ext cx="166903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</a:rPr>
                <a:t>RTL8762A</a:t>
              </a:r>
              <a:r>
                <a:rPr lang="zh-TW" altLang="zh-TW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</a:rPr>
                <a:t>系列</a:t>
              </a:r>
              <a:r>
                <a:rPr lang="zh-TW" alt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</a:rPr>
                <a:t> </a:t>
              </a:r>
              <a:r>
                <a:rPr lang="en-US" sz="1200" b="1" dirty="0" err="1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接收</a:t>
              </a:r>
              <a:endParaRPr lang="en-US" sz="1200" dirty="0"/>
            </a:p>
          </p:txBody>
        </p:sp>
        <p:sp>
          <p:nvSpPr>
            <p:cNvPr id="35" name="Text 10">
              <a:extLst>
                <a:ext uri="{FF2B5EF4-FFF2-40B4-BE49-F238E27FC236}">
                  <a16:creationId xmlns:a16="http://schemas.microsoft.com/office/drawing/2014/main" id="{5BE86979-A835-0342-3190-667EA0C137F5}"/>
                </a:ext>
              </a:extLst>
            </p:cNvPr>
            <p:cNvSpPr txBox="1"/>
            <p:nvPr/>
          </p:nvSpPr>
          <p:spPr>
            <a:xfrm>
              <a:off x="3584448" y="1780707"/>
              <a:ext cx="1982091" cy="21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B6B7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無線訊號解包並轉傳至主控晶片</a:t>
              </a:r>
              <a:endParaRPr lang="en-US" sz="1100" dirty="0"/>
            </a:p>
          </p:txBody>
        </p:sp>
      </p:grpSp>
      <p:sp>
        <p:nvSpPr>
          <p:cNvPr id="36" name="Arrow 2">
            <a:extLst>
              <a:ext uri="{FF2B5EF4-FFF2-40B4-BE49-F238E27FC236}">
                <a16:creationId xmlns:a16="http://schemas.microsoft.com/office/drawing/2014/main" id="{0A528F3E-A962-B7FD-43F1-F2F3096E86CA}"/>
              </a:ext>
            </a:extLst>
          </p:cNvPr>
          <p:cNvSpPr/>
          <p:nvPr/>
        </p:nvSpPr>
        <p:spPr>
          <a:xfrm>
            <a:off x="6037772" y="1748802"/>
            <a:ext cx="173736" cy="274320"/>
          </a:xfrm>
          <a:prstGeom prst="chevron">
            <a:avLst/>
          </a:prstGeom>
          <a:solidFill>
            <a:srgbClr val="0A84C6"/>
          </a:solidFill>
          <a:ln w="12700">
            <a:solidFill>
              <a:srgbClr val="0A84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96" name="群組 95">
            <a:extLst>
              <a:ext uri="{FF2B5EF4-FFF2-40B4-BE49-F238E27FC236}">
                <a16:creationId xmlns:a16="http://schemas.microsoft.com/office/drawing/2014/main" id="{6AEA878D-8887-2811-FCD5-20C533C0B957}"/>
              </a:ext>
            </a:extLst>
          </p:cNvPr>
          <p:cNvGrpSpPr/>
          <p:nvPr/>
        </p:nvGrpSpPr>
        <p:grpSpPr>
          <a:xfrm>
            <a:off x="6300216" y="1543968"/>
            <a:ext cx="2284160" cy="685800"/>
            <a:chOff x="6254496" y="1371600"/>
            <a:chExt cx="2284160" cy="685800"/>
          </a:xfrm>
        </p:grpSpPr>
        <p:sp>
          <p:nvSpPr>
            <p:cNvPr id="37" name="Stage 3 card">
              <a:extLst>
                <a:ext uri="{FF2B5EF4-FFF2-40B4-BE49-F238E27FC236}">
                  <a16:creationId xmlns:a16="http://schemas.microsoft.com/office/drawing/2014/main" id="{ED616C4E-6D7D-56FA-AE59-75C9037AC3A3}"/>
                </a:ext>
              </a:extLst>
            </p:cNvPr>
            <p:cNvSpPr/>
            <p:nvPr/>
          </p:nvSpPr>
          <p:spPr>
            <a:xfrm>
              <a:off x="6254496" y="1371600"/>
              <a:ext cx="2284160" cy="685800"/>
            </a:xfrm>
            <a:prstGeom prst="roundRect">
              <a:avLst>
                <a:gd name="adj" fmla="val 5882"/>
              </a:avLst>
            </a:prstGeom>
            <a:solidFill>
              <a:srgbClr val="F3F7FB"/>
            </a:solidFill>
            <a:ln w="12700">
              <a:solidFill>
                <a:srgbClr val="D5E1EC"/>
              </a:solidFill>
              <a:prstDash val="solid"/>
            </a:ln>
            <a:effectLst>
              <a:outerShdw blurRad="101600" dist="25400" dir="5400000" algn="bl" rotWithShape="0">
                <a:srgbClr val="0B1F3A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14F6383C-542D-4CF2-1C30-5E6490BCED0B}"/>
                </a:ext>
              </a:extLst>
            </p:cNvPr>
            <p:cNvSpPr txBox="1"/>
            <p:nvPr/>
          </p:nvSpPr>
          <p:spPr>
            <a:xfrm>
              <a:off x="6437376" y="1418700"/>
              <a:ext cx="1904367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STM32G4</a:t>
              </a:r>
              <a:r>
                <a:rPr lang="zh-TW" alt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系列</a:t>
              </a:r>
              <a:r>
                <a:rPr 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運算</a:t>
              </a:r>
              <a:endParaRPr lang="en-US" sz="1200" dirty="0"/>
            </a:p>
          </p:txBody>
        </p:sp>
        <p:sp>
          <p:nvSpPr>
            <p:cNvPr id="39" name="Text 15">
              <a:extLst>
                <a:ext uri="{FF2B5EF4-FFF2-40B4-BE49-F238E27FC236}">
                  <a16:creationId xmlns:a16="http://schemas.microsoft.com/office/drawing/2014/main" id="{61550FE8-F1F2-0AF9-16F9-F2EE767451B8}"/>
                </a:ext>
              </a:extLst>
            </p:cNvPr>
            <p:cNvSpPr txBox="1"/>
            <p:nvPr/>
          </p:nvSpPr>
          <p:spPr>
            <a:xfrm>
              <a:off x="6437376" y="1777041"/>
              <a:ext cx="2003571" cy="2226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B6B7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主控微控制器調度複數驅動晶片</a:t>
              </a:r>
              <a:endParaRPr lang="en-US" sz="1100" dirty="0"/>
            </a:p>
          </p:txBody>
        </p:sp>
      </p:grpSp>
      <p:sp>
        <p:nvSpPr>
          <p:cNvPr id="40" name="Arrow 3">
            <a:extLst>
              <a:ext uri="{FF2B5EF4-FFF2-40B4-BE49-F238E27FC236}">
                <a16:creationId xmlns:a16="http://schemas.microsoft.com/office/drawing/2014/main" id="{78A39D15-390A-15CA-26F2-D99D330A4425}"/>
              </a:ext>
            </a:extLst>
          </p:cNvPr>
          <p:cNvSpPr/>
          <p:nvPr/>
        </p:nvSpPr>
        <p:spPr>
          <a:xfrm>
            <a:off x="8680388" y="2091702"/>
            <a:ext cx="173736" cy="274320"/>
          </a:xfrm>
          <a:prstGeom prst="chevron">
            <a:avLst/>
          </a:prstGeom>
          <a:solidFill>
            <a:srgbClr val="0A84C6"/>
          </a:solidFill>
          <a:ln w="12700">
            <a:solidFill>
              <a:srgbClr val="0A84C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A17692E0-AA0A-335A-D22E-C70C4746C3D6}"/>
              </a:ext>
            </a:extLst>
          </p:cNvPr>
          <p:cNvGrpSpPr/>
          <p:nvPr/>
        </p:nvGrpSpPr>
        <p:grpSpPr>
          <a:xfrm>
            <a:off x="8950136" y="1886868"/>
            <a:ext cx="2185416" cy="685800"/>
            <a:chOff x="9107424" y="1371600"/>
            <a:chExt cx="2185416" cy="685800"/>
          </a:xfrm>
        </p:grpSpPr>
        <p:sp>
          <p:nvSpPr>
            <p:cNvPr id="41" name="Stage 4 card">
              <a:extLst>
                <a:ext uri="{FF2B5EF4-FFF2-40B4-BE49-F238E27FC236}">
                  <a16:creationId xmlns:a16="http://schemas.microsoft.com/office/drawing/2014/main" id="{17F48084-FC96-DF12-B9E2-8376B586B09B}"/>
                </a:ext>
              </a:extLst>
            </p:cNvPr>
            <p:cNvSpPr/>
            <p:nvPr/>
          </p:nvSpPr>
          <p:spPr>
            <a:xfrm>
              <a:off x="9107424" y="1371600"/>
              <a:ext cx="2185416" cy="685800"/>
            </a:xfrm>
            <a:prstGeom prst="roundRect">
              <a:avLst>
                <a:gd name="adj" fmla="val 5882"/>
              </a:avLst>
            </a:prstGeom>
            <a:solidFill>
              <a:srgbClr val="F3F7FB"/>
            </a:solidFill>
            <a:ln w="12700">
              <a:solidFill>
                <a:srgbClr val="D5E1EC"/>
              </a:solidFill>
              <a:prstDash val="solid"/>
            </a:ln>
            <a:effectLst>
              <a:outerShdw blurRad="101600" dist="25400" dir="5400000" algn="bl" rotWithShape="0">
                <a:srgbClr val="0B1F3A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5F6D901E-469F-7FE0-9110-86FBECC3518F}"/>
                </a:ext>
              </a:extLst>
            </p:cNvPr>
            <p:cNvSpPr txBox="1"/>
            <p:nvPr/>
          </p:nvSpPr>
          <p:spPr>
            <a:xfrm>
              <a:off x="9290304" y="1418700"/>
              <a:ext cx="188090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TW" alt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自家</a:t>
              </a:r>
              <a:r>
                <a:rPr lang="en-US" altLang="zh-TW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MCU</a:t>
              </a:r>
              <a:r>
                <a:rPr lang="zh-TW" alt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</a:t>
              </a:r>
              <a:r>
                <a:rPr lang="en-US" sz="1200" b="1" dirty="0" err="1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驅動</a:t>
              </a:r>
              <a:endParaRPr lang="en-US" sz="1200" dirty="0"/>
            </a:p>
          </p:txBody>
        </p:sp>
        <p:sp>
          <p:nvSpPr>
            <p:cNvPr id="43" name="Text 20">
              <a:extLst>
                <a:ext uri="{FF2B5EF4-FFF2-40B4-BE49-F238E27FC236}">
                  <a16:creationId xmlns:a16="http://schemas.microsoft.com/office/drawing/2014/main" id="{463D050A-A166-4F96-FCE8-F3373D6B5EB6}"/>
                </a:ext>
              </a:extLst>
            </p:cNvPr>
            <p:cNvSpPr txBox="1"/>
            <p:nvPr/>
          </p:nvSpPr>
          <p:spPr>
            <a:xfrm>
              <a:off x="9290304" y="1773504"/>
              <a:ext cx="1880904" cy="21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5B6B7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調整 PDLC 玻璃電壓切換明暗</a:t>
              </a:r>
              <a:endParaRPr lang="en-US" sz="1100" dirty="0"/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3F7C9A55-5CCC-7460-A4E5-6B7A03048A6D}"/>
              </a:ext>
            </a:extLst>
          </p:cNvPr>
          <p:cNvGrpSpPr/>
          <p:nvPr/>
        </p:nvGrpSpPr>
        <p:grpSpPr>
          <a:xfrm>
            <a:off x="4908021" y="2331327"/>
            <a:ext cx="2433238" cy="704088"/>
            <a:chOff x="4831066" y="2468880"/>
            <a:chExt cx="2433238" cy="704088"/>
          </a:xfrm>
        </p:grpSpPr>
        <p:sp>
          <p:nvSpPr>
            <p:cNvPr id="65" name="Stage 2 card">
              <a:extLst>
                <a:ext uri="{FF2B5EF4-FFF2-40B4-BE49-F238E27FC236}">
                  <a16:creationId xmlns:a16="http://schemas.microsoft.com/office/drawing/2014/main" id="{4AED0E6E-6590-27F8-CC60-45415C2AC189}"/>
                </a:ext>
              </a:extLst>
            </p:cNvPr>
            <p:cNvSpPr/>
            <p:nvPr/>
          </p:nvSpPr>
          <p:spPr>
            <a:xfrm>
              <a:off x="4831066" y="2468880"/>
              <a:ext cx="2433238" cy="704088"/>
            </a:xfrm>
            <a:prstGeom prst="roundRect">
              <a:avLst>
                <a:gd name="adj" fmla="val 5882"/>
              </a:avLst>
            </a:prstGeom>
            <a:solidFill>
              <a:srgbClr val="F3F7FB"/>
            </a:solidFill>
            <a:ln w="12700">
              <a:solidFill>
                <a:srgbClr val="D5E1EC"/>
              </a:solidFill>
              <a:prstDash val="solid"/>
            </a:ln>
            <a:effectLst>
              <a:outerShdw blurRad="101600" dist="25400" dir="5400000" algn="bl" rotWithShape="0">
                <a:srgbClr val="0B1F3A">
                  <a:alpha val="12000"/>
                </a:srgbClr>
              </a:outerShdw>
            </a:effec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9" name="Text 9">
              <a:extLst>
                <a:ext uri="{FF2B5EF4-FFF2-40B4-BE49-F238E27FC236}">
                  <a16:creationId xmlns:a16="http://schemas.microsoft.com/office/drawing/2014/main" id="{5777C183-1F9A-4221-2DC6-14C4DBDA1864}"/>
                </a:ext>
              </a:extLst>
            </p:cNvPr>
            <p:cNvSpPr txBox="1"/>
            <p:nvPr/>
          </p:nvSpPr>
          <p:spPr>
            <a:xfrm>
              <a:off x="5022572" y="2534268"/>
              <a:ext cx="207568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zh-TW" altLang="zh-TW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</a:rPr>
                <a:t>nRF528系列</a:t>
              </a:r>
              <a:r>
                <a:rPr lang="zh-TW" alt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</a:rPr>
                <a:t> </a:t>
              </a:r>
              <a:r>
                <a:rPr lang="en-US" sz="1200" b="1" dirty="0" err="1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</a:rPr>
                <a:t>接收</a:t>
              </a:r>
              <a:r>
                <a:rPr lang="zh-TW" altLang="en-US" sz="1200" b="1" dirty="0">
                  <a:solidFill>
                    <a:srgbClr val="0B1F3A"/>
                  </a:solidFill>
                  <a:latin typeface="Microsoft JhengHei" pitchFamily="34" charset="0"/>
                  <a:ea typeface="Microsoft JhengHei" pitchFamily="34" charset="-122"/>
                </a:rPr>
                <a:t> 與 運算</a:t>
              </a:r>
              <a:endParaRPr lang="en-US" sz="12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</a:endParaRPr>
            </a:p>
          </p:txBody>
        </p:sp>
        <p:sp>
          <p:nvSpPr>
            <p:cNvPr id="71" name="Text 10">
              <a:extLst>
                <a:ext uri="{FF2B5EF4-FFF2-40B4-BE49-F238E27FC236}">
                  <a16:creationId xmlns:a16="http://schemas.microsoft.com/office/drawing/2014/main" id="{390A38DF-9EC5-F40B-6466-63A3A9DC0A66}"/>
                </a:ext>
              </a:extLst>
            </p:cNvPr>
            <p:cNvSpPr txBox="1"/>
            <p:nvPr/>
          </p:nvSpPr>
          <p:spPr>
            <a:xfrm>
              <a:off x="5006024" y="2889072"/>
              <a:ext cx="2179005" cy="2166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100" dirty="0" err="1">
                  <a:solidFill>
                    <a:srgbClr val="5B6B7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無線訊號解包並</a:t>
              </a:r>
              <a:r>
                <a:rPr lang="en-US" altLang="zh-TW" sz="1100" dirty="0" err="1">
                  <a:solidFill>
                    <a:srgbClr val="5B6B7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調度複數驅動晶片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8650" y="1419225"/>
            <a:ext cx="10953750" cy="4895850"/>
          </a:xfrm>
          <a:prstGeom prst="roundRect">
            <a:avLst>
              <a:gd name="adj" fmla="val 23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125" y="6315075"/>
            <a:ext cx="109537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9125" y="1428750"/>
            <a:ext cx="10953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25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63350" y="1428750"/>
            <a:ext cx="9525" cy="48958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326" y="4849584"/>
            <a:ext cx="133498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211275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REPRESENTATIVE PROJECT (5/5)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62000"/>
            <a:ext cx="4328621" cy="3924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主動筆模擬器 (Simulator 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2326" y="4821009"/>
            <a:ext cx="2633884" cy="207749"/>
          </a:xfrm>
          <a:prstGeom prst="rect">
            <a:avLst/>
          </a:prstGeom>
          <a:noFill/>
        </p:spPr>
        <p:txBody>
          <a:bodyPr wrap="none" lIns="22874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IDE 核心偵錯控制層與底層模擬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2326" y="5206870"/>
            <a:ext cx="5598007" cy="848630"/>
          </a:xfrm>
          <a:prstGeom prst="rect">
            <a:avLst/>
          </a:prstGeom>
          <a:noFill/>
        </p:spPr>
        <p:txBody>
          <a:bodyPr wrap="none" lIns="57150" tIns="0" rIns="0" bIns="0" anchor="t">
            <a:spAutoFit/>
          </a:bodyPr>
          <a:lstStyle/>
          <a:p>
            <a:pPr marL="285750" indent="-285750" algn="l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負責主動筆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Simulator AP 之 </a:t>
            </a:r>
            <a:r>
              <a:rPr sz="1275" b="1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IDE </a:t>
            </a:r>
            <a:r>
              <a:rPr sz="1275" b="1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核心偵錯控制層</a:t>
            </a:r>
            <a:r>
              <a:rPr sz="1275" b="1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(DLL)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開發</a:t>
            </a:r>
            <a:r>
              <a:rPr sz="127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sz="1275" b="0" i="0" u="none" dirty="0">
              <a:solidFill>
                <a:srgbClr val="33415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精準實現 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Single Step</a:t>
            </a:r>
            <a:r>
              <a:rPr lang="zh-TW" altLang="en-US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75" b="1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Free Run</a:t>
            </a:r>
            <a:r>
              <a:rPr lang="en-US" altLang="zh-TW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等底層模擬與晶片狀態追蹤偵錯機制。</a:t>
            </a:r>
          </a:p>
          <a:p>
            <a:pPr marL="285750" indent="-285750">
              <a:lnSpc>
                <a:spcPts val="2295"/>
              </a:lnSpc>
              <a:buFont typeface="Arial" panose="020B0604020202020204" pitchFamily="34" charset="0"/>
              <a:buChar char="•"/>
            </a:pPr>
            <a:r>
              <a:rPr lang="zh-TW" altLang="en-US" sz="1275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大幅賦能內部研發團隊與客戶端進行高效行為驗證，加速晶片上市時程。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790721E-F5B9-370C-A206-B3E862C7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326" y="1773511"/>
            <a:ext cx="5187531" cy="2814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306" y="4052887"/>
            <a:ext cx="118616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415" y="4052887"/>
            <a:ext cx="118616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41625" y="2643187"/>
            <a:ext cx="3308598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感謝聆聽 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02955" y="3443287"/>
            <a:ext cx="538609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歡迎隨時與我聯繫，共同探討軟韌體整合與軟體研發合作機會。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5537" y="4043362"/>
            <a:ext cx="1225846" cy="184666"/>
          </a:xfrm>
          <a:prstGeom prst="rect">
            <a:avLst/>
          </a:prstGeom>
          <a:noFill/>
        </p:spPr>
        <p:txBody>
          <a:bodyPr wrap="none" lIns="194816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0912-646-085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7842" y="4043362"/>
            <a:ext cx="2067423" cy="184666"/>
          </a:xfrm>
          <a:prstGeom prst="rect">
            <a:avLst/>
          </a:prstGeom>
          <a:noFill/>
        </p:spPr>
        <p:txBody>
          <a:bodyPr wrap="none" lIns="194816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cash3010711@gmail.com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844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457200"/>
            <a:ext cx="11094415" cy="6106562"/>
          </a:xfrm>
          <a:prstGeom prst="rect">
            <a:avLst/>
          </a:prstGeom>
          <a:solidFill>
            <a:srgbClr val="1C202A"/>
          </a:solidFill>
          <a:ln w="19050"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1094415" cy="365760"/>
          </a:xfrm>
          <a:prstGeom prst="rect">
            <a:avLst/>
          </a:prstGeom>
          <a:solidFill>
            <a:srgbClr val="101218"/>
          </a:solidFill>
          <a:ln>
            <a:solidFill>
              <a:srgbClr val="3C4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>
                <a:solidFill>
                  <a:srgbClr val="B4BED2"/>
                </a:solidFill>
                <a:latin typeface="Arial"/>
              </a:defRPr>
            </a:pPr>
            <a:r>
              <a:rPr dirty="0"/>
              <a:t>Gaming Mouse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108960" cy="3474720"/>
          </a:xfrm>
          <a:prstGeom prst="rect">
            <a:avLst/>
          </a:prstGeom>
          <a:solidFill>
            <a:srgbClr val="141821"/>
          </a:solidFill>
          <a:ln w="1270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68680" y="896112"/>
            <a:ext cx="1645920" cy="219456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AAFF"/>
                </a:solidFill>
                <a:latin typeface="Microsoft JhengHei"/>
              </a:defRPr>
            </a:pPr>
            <a:r>
              <a:t>按鍵設定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234440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127101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527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左鍵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554480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159105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7276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右鍵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1874519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120" y="1911095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892807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中鍵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194560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60120" y="223113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21284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前進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514600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0120" y="255117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53288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後退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834640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287121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85292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DPI循環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154679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120" y="319125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17296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燈效切換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474720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0120" y="351129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49300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滾輪向左滾動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3794760"/>
            <a:ext cx="2834640" cy="274320"/>
          </a:xfrm>
          <a:prstGeom prst="roundRect">
            <a:avLst/>
          </a:prstGeom>
          <a:solidFill>
            <a:srgbClr val="1E293B"/>
          </a:solidFill>
          <a:ln w="952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0120" y="3831336"/>
            <a:ext cx="201168" cy="201168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3813048"/>
            <a:ext cx="228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Microsoft JhengHei"/>
              </a:defRPr>
            </a:pPr>
            <a:r>
              <a:t>滾輪向右滾動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160520"/>
            <a:ext cx="1005840" cy="25146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38BDF8"/>
                </a:solidFill>
                <a:latin typeface="Microsoft JhengHei"/>
              </a:defRPr>
            </a:pPr>
            <a:r>
              <a:rPr dirty="0" err="1"/>
              <a:t>巨集管理器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2377440" y="4160520"/>
            <a:ext cx="1005840" cy="25146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38BDF8"/>
                </a:solidFill>
                <a:latin typeface="Microsoft JhengHei"/>
              </a:defRPr>
            </a:pPr>
            <a:r>
              <a:t>槍械庫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572000"/>
            <a:ext cx="3108960" cy="1060704"/>
          </a:xfrm>
          <a:prstGeom prst="rect">
            <a:avLst/>
          </a:prstGeom>
          <a:solidFill>
            <a:srgbClr val="141821"/>
          </a:solidFill>
          <a:ln w="1270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8680" y="4462272"/>
            <a:ext cx="1645920" cy="219456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AAFF"/>
                </a:solidFill>
                <a:latin typeface="Microsoft JhengHei"/>
              </a:defRPr>
            </a:pPr>
            <a:r>
              <a:t>配置文件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4820042"/>
            <a:ext cx="2651760" cy="274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profile1                                                          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5158370"/>
            <a:ext cx="1234440" cy="274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1F5F9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5158370"/>
            <a:ext cx="1234440" cy="274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1F5F9"/>
                </a:solidFill>
                <a:latin typeface="Microsoft JhengHei"/>
              </a:defRPr>
            </a:pPr>
            <a:r>
              <a:t>刪除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774436"/>
            <a:ext cx="1486304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dirty="0" err="1"/>
              <a:t>滑鼠當前</a:t>
            </a:r>
            <a:r>
              <a:rPr dirty="0"/>
              <a:t> DPI: 2400</a:t>
            </a:r>
            <a:endParaRPr lang="en-US" dirty="0"/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endParaRPr dirty="0"/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dirty="0"/>
              <a:t>Firmware version : V1.02</a:t>
            </a:r>
          </a:p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rPr dirty="0"/>
              <a:t>Software version : 1.1.0.19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0" y="1371600"/>
            <a:ext cx="3474720" cy="43891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754880" y="1554480"/>
            <a:ext cx="2194560" cy="384048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955279" y="1005840"/>
            <a:ext cx="3474720" cy="1920240"/>
          </a:xfrm>
          <a:prstGeom prst="rect">
            <a:avLst/>
          </a:prstGeom>
          <a:solidFill>
            <a:srgbClr val="141821"/>
          </a:solidFill>
          <a:ln w="1270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92440" y="896112"/>
            <a:ext cx="1645920" cy="219456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AAFF"/>
                </a:solidFill>
                <a:latin typeface="Microsoft JhengHei"/>
              </a:defRPr>
            </a:pPr>
            <a:r>
              <a:t>DPI分辨率設置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1162471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275320" y="1967142"/>
            <a:ext cx="91440" cy="201168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40" y="221403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C8D2E1"/>
                </a:solidFill>
                <a:latin typeface="Arial"/>
              </a:defRPr>
            </a:pPr>
            <a:r>
              <a:t>1200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56448" y="2460919"/>
            <a:ext cx="329184" cy="164592"/>
          </a:xfrm>
          <a:prstGeom prst="rect">
            <a:avLst/>
          </a:prstGeom>
          <a:solidFill>
            <a:srgbClr val="EF444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257032" y="2706442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741664" y="1162471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741664" y="1816267"/>
            <a:ext cx="91440" cy="352044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58784" y="221403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C8D2E1"/>
                </a:solidFill>
                <a:latin typeface="Arial"/>
              </a:defRPr>
            </a:pPr>
            <a:r>
              <a:t>2400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22792" y="2460919"/>
            <a:ext cx="329184" cy="164592"/>
          </a:xfrm>
          <a:prstGeom prst="rect">
            <a:avLst/>
          </a:prstGeom>
          <a:solidFill>
            <a:srgbClr val="F9731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8723376" y="2706442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208008" y="1162471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9208008" y="1665391"/>
            <a:ext cx="91440" cy="502920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25128" y="221403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C8D2E1"/>
                </a:solidFill>
                <a:latin typeface="Arial"/>
              </a:defRPr>
            </a:pPr>
            <a:r>
              <a:t>3200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89136" y="2460919"/>
            <a:ext cx="329184" cy="164592"/>
          </a:xfrm>
          <a:prstGeom prst="rect">
            <a:avLst/>
          </a:prstGeom>
          <a:solidFill>
            <a:srgbClr val="EAB30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189720" y="2706442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674352" y="1162471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674352" y="1514515"/>
            <a:ext cx="91440" cy="653796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491472" y="221403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C8D2E1"/>
                </a:solidFill>
                <a:latin typeface="Arial"/>
              </a:defRPr>
            </a:pPr>
            <a:r>
              <a:t>6400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55480" y="2460919"/>
            <a:ext cx="329184" cy="164592"/>
          </a:xfrm>
          <a:prstGeom prst="rect">
            <a:avLst/>
          </a:prstGeom>
          <a:solidFill>
            <a:srgbClr val="22C55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656064" y="2706442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140696" y="1162471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140696" y="1413930"/>
            <a:ext cx="91440" cy="754380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957816" y="221403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C8D2E1"/>
                </a:solidFill>
                <a:latin typeface="Arial"/>
              </a:defRPr>
            </a:pPr>
            <a:r>
              <a:t>12000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21824" y="2460919"/>
            <a:ext cx="329184" cy="164592"/>
          </a:xfrm>
          <a:prstGeom prst="rect">
            <a:avLst/>
          </a:prstGeom>
          <a:solidFill>
            <a:srgbClr val="06B6D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122408" y="2706442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607040" y="1162471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0607040" y="1313347"/>
            <a:ext cx="91440" cy="854964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424159" y="221403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C8D2E1"/>
                </a:solidFill>
                <a:latin typeface="Arial"/>
              </a:defRPr>
            </a:pPr>
            <a:r>
              <a:t>18000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488167" y="2460919"/>
            <a:ext cx="329184" cy="164592"/>
          </a:xfrm>
          <a:prstGeom prst="rect">
            <a:avLst/>
          </a:prstGeom>
          <a:solidFill>
            <a:srgbClr val="3B82F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588752" y="2706442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073384" y="1162471"/>
            <a:ext cx="9144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073384" y="1212763"/>
            <a:ext cx="91440" cy="955547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890504" y="2214031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C8D2E1"/>
                </a:solidFill>
                <a:latin typeface="Arial"/>
              </a:defRPr>
            </a:pPr>
            <a:r>
              <a:t>24000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54512" y="2460919"/>
            <a:ext cx="329184" cy="164592"/>
          </a:xfrm>
          <a:prstGeom prst="rect">
            <a:avLst/>
          </a:prstGeom>
          <a:solidFill>
            <a:srgbClr val="A855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1055096" y="2706442"/>
            <a:ext cx="109728" cy="10972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55279" y="3072384"/>
            <a:ext cx="3474720" cy="1645920"/>
          </a:xfrm>
          <a:prstGeom prst="rect">
            <a:avLst/>
          </a:prstGeom>
          <a:solidFill>
            <a:srgbClr val="141821"/>
          </a:solidFill>
          <a:ln w="1270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8092440" y="2962656"/>
            <a:ext cx="1645920" cy="219456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AAFF"/>
                </a:solidFill>
                <a:latin typeface="Microsoft JhengHei"/>
              </a:defRPr>
            </a:pPr>
            <a:r>
              <a:t>燈光設置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35340" y="3282696"/>
            <a:ext cx="2606040" cy="274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50">
                <a:solidFill>
                  <a:srgbClr val="F1F5F9"/>
                </a:solidFill>
              </a:defRPr>
            </a:pPr>
            <a:r>
              <a:t>混彩流光                                                              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92440" y="366674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方向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778240" y="3666744"/>
            <a:ext cx="274320" cy="2286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←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098280" y="3666744"/>
            <a:ext cx="274320" cy="228600"/>
          </a:xfrm>
          <a:prstGeom prst="round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dirty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92440" y="3968496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亮度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778240" y="4041648"/>
            <a:ext cx="2514600" cy="91440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92440" y="427024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速度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778240" y="4343400"/>
            <a:ext cx="2514600" cy="91440"/>
          </a:xfrm>
          <a:prstGeom prst="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955279" y="4887038"/>
            <a:ext cx="3474720" cy="914400"/>
          </a:xfrm>
          <a:prstGeom prst="rect">
            <a:avLst/>
          </a:prstGeom>
          <a:solidFill>
            <a:srgbClr val="141821"/>
          </a:solidFill>
          <a:ln w="12700">
            <a:solidFill>
              <a:srgbClr val="00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92440" y="4777310"/>
            <a:ext cx="1645920" cy="219456"/>
          </a:xfrm>
          <a:prstGeom prst="rect">
            <a:avLst/>
          </a:prstGeom>
          <a:solidFill>
            <a:srgbClr val="14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00AAFF"/>
                </a:solidFill>
                <a:latin typeface="Microsoft JhengHei"/>
              </a:defRPr>
            </a:pPr>
            <a:r>
              <a:t>回報率設置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92440" y="5088206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設備的數據更新頻率 (單位赫茲)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119872" y="5362526"/>
            <a:ext cx="713232" cy="274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FFFFFF"/>
                </a:solidFill>
              </a:defRPr>
            </a:pPr>
            <a:r>
              <a:t>125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924544" y="5362526"/>
            <a:ext cx="713232" cy="274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FFFFFF"/>
                </a:solidFill>
              </a:defRPr>
            </a:pPr>
            <a:r>
              <a:t>250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729216" y="5362526"/>
            <a:ext cx="713232" cy="27432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FFFFFF"/>
                </a:solidFill>
              </a:defRPr>
            </a:pPr>
            <a:r>
              <a:rPr dirty="0"/>
              <a:t>500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533888" y="5362526"/>
            <a:ext cx="713232" cy="274320"/>
          </a:xfrm>
          <a:prstGeom prst="roundRect">
            <a:avLst/>
          </a:prstGeom>
          <a:solidFill>
            <a:srgbClr val="4F81BD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0">
                <a:solidFill>
                  <a:srgbClr val="FFFFFF"/>
                </a:solidFill>
              </a:defRPr>
            </a:pPr>
            <a:r>
              <a:rPr sz="950" dirty="0">
                <a:solidFill>
                  <a:srgbClr val="FFFFFF"/>
                </a:solidFill>
              </a:rPr>
              <a:t>1000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421624" y="6042555"/>
            <a:ext cx="1463040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Microsoft JhengHei"/>
              </a:defRPr>
            </a:pPr>
            <a:r>
              <a:rPr dirty="0" err="1"/>
              <a:t>恢復出廠設定</a:t>
            </a:r>
            <a:endParaRPr dirty="0"/>
          </a:p>
        </p:txBody>
      </p:sp>
      <p:sp>
        <p:nvSpPr>
          <p:cNvPr id="102" name="Rounded Rectangle 101"/>
          <p:cNvSpPr/>
          <p:nvPr/>
        </p:nvSpPr>
        <p:spPr>
          <a:xfrm>
            <a:off x="9948672" y="6042555"/>
            <a:ext cx="1463040" cy="347472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Microsoft JhengHei"/>
              </a:defRPr>
            </a:pPr>
            <a:r>
              <a:t>應用</a:t>
            </a:r>
          </a:p>
        </p:txBody>
      </p: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9695969B-85C5-B747-5FE0-4FA4255C9A10}"/>
              </a:ext>
            </a:extLst>
          </p:cNvPr>
          <p:cNvCxnSpPr/>
          <p:nvPr/>
        </p:nvCxnSpPr>
        <p:spPr>
          <a:xfrm>
            <a:off x="4754880" y="3072384"/>
            <a:ext cx="2194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763580FF-FD87-F6C4-B176-ACC7DB6075C2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5852160" y="1554480"/>
            <a:ext cx="0" cy="1517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760720" y="1874519"/>
            <a:ext cx="182880" cy="405867"/>
          </a:xfrm>
          <a:prstGeom prst="rect">
            <a:avLst/>
          </a:prstGeom>
          <a:solidFill>
            <a:srgbClr val="4F81BD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09" name="Rectangle 44">
            <a:extLst>
              <a:ext uri="{FF2B5EF4-FFF2-40B4-BE49-F238E27FC236}">
                <a16:creationId xmlns:a16="http://schemas.microsoft.com/office/drawing/2014/main" id="{FD95F62C-3B72-06F5-9B4C-7F21E2E987B2}"/>
              </a:ext>
            </a:extLst>
          </p:cNvPr>
          <p:cNvSpPr/>
          <p:nvPr/>
        </p:nvSpPr>
        <p:spPr>
          <a:xfrm>
            <a:off x="5752268" y="2532889"/>
            <a:ext cx="182880" cy="155448"/>
          </a:xfrm>
          <a:prstGeom prst="rect">
            <a:avLst/>
          </a:prstGeom>
          <a:solidFill>
            <a:srgbClr val="4F81BD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1" name="Rectangle 44">
            <a:extLst>
              <a:ext uri="{FF2B5EF4-FFF2-40B4-BE49-F238E27FC236}">
                <a16:creationId xmlns:a16="http://schemas.microsoft.com/office/drawing/2014/main" id="{63229F89-F6B7-0B08-4326-796BE5A4ADCA}"/>
              </a:ext>
            </a:extLst>
          </p:cNvPr>
          <p:cNvSpPr/>
          <p:nvPr/>
        </p:nvSpPr>
        <p:spPr>
          <a:xfrm>
            <a:off x="4698386" y="2389568"/>
            <a:ext cx="45719" cy="251415"/>
          </a:xfrm>
          <a:prstGeom prst="rect">
            <a:avLst/>
          </a:prstGeom>
          <a:solidFill>
            <a:srgbClr val="4F81BD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3" name="Rectangle 44">
            <a:extLst>
              <a:ext uri="{FF2B5EF4-FFF2-40B4-BE49-F238E27FC236}">
                <a16:creationId xmlns:a16="http://schemas.microsoft.com/office/drawing/2014/main" id="{711F003A-CCC6-C43D-8C1B-58057684CF44}"/>
              </a:ext>
            </a:extLst>
          </p:cNvPr>
          <p:cNvSpPr/>
          <p:nvPr/>
        </p:nvSpPr>
        <p:spPr>
          <a:xfrm>
            <a:off x="4698386" y="2730203"/>
            <a:ext cx="45719" cy="251415"/>
          </a:xfrm>
          <a:prstGeom prst="rect">
            <a:avLst/>
          </a:prstGeom>
          <a:solidFill>
            <a:srgbClr val="4F81BD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5" name="Rectangle 44">
            <a:extLst>
              <a:ext uri="{FF2B5EF4-FFF2-40B4-BE49-F238E27FC236}">
                <a16:creationId xmlns:a16="http://schemas.microsoft.com/office/drawing/2014/main" id="{8E2F8D86-3B13-67CD-7076-E12C25D92792}"/>
              </a:ext>
            </a:extLst>
          </p:cNvPr>
          <p:cNvSpPr/>
          <p:nvPr/>
        </p:nvSpPr>
        <p:spPr>
          <a:xfrm>
            <a:off x="5752268" y="2763013"/>
            <a:ext cx="182880" cy="155448"/>
          </a:xfrm>
          <a:prstGeom prst="rect">
            <a:avLst/>
          </a:prstGeom>
          <a:solidFill>
            <a:srgbClr val="4F81BD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116" name="矩形: 圓角 115">
            <a:extLst>
              <a:ext uri="{FF2B5EF4-FFF2-40B4-BE49-F238E27FC236}">
                <a16:creationId xmlns:a16="http://schemas.microsoft.com/office/drawing/2014/main" id="{9C1E5231-4FB5-A9D9-06BC-6A79FDEBEF6A}"/>
              </a:ext>
            </a:extLst>
          </p:cNvPr>
          <p:cNvSpPr/>
          <p:nvPr/>
        </p:nvSpPr>
        <p:spPr>
          <a:xfrm>
            <a:off x="4906615" y="3223259"/>
            <a:ext cx="121167" cy="576073"/>
          </a:xfrm>
          <a:prstGeom prst="roundRect">
            <a:avLst/>
          </a:prstGeom>
          <a:solidFill>
            <a:srgbClr val="4F81BD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33800" y="2802731"/>
            <a:ext cx="78486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733800" y="4088606"/>
            <a:ext cx="7848600" cy="8810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33800" y="2802731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33800" y="4088606"/>
            <a:ext cx="38100" cy="88106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3224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UI PROTOTYPE (1/2)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66750"/>
            <a:ext cx="646715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藍牙連線與設備搜尋介面 (Bluetooth Connect)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49FBDC9-E30A-ECB3-A766-D0E3F2BDE223}"/>
              </a:ext>
            </a:extLst>
          </p:cNvPr>
          <p:cNvGrpSpPr/>
          <p:nvPr/>
        </p:nvGrpSpPr>
        <p:grpSpPr>
          <a:xfrm>
            <a:off x="709942" y="1345949"/>
            <a:ext cx="2667000" cy="5143500"/>
            <a:chOff x="609600" y="1314450"/>
            <a:chExt cx="2667000" cy="5143500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1314450"/>
              <a:ext cx="2667000" cy="5143500"/>
            </a:xfrm>
            <a:prstGeom prst="roundRect">
              <a:avLst>
                <a:gd name="adj" fmla="val 12857"/>
              </a:avLst>
            </a:prstGeom>
            <a:solidFill>
              <a:srgbClr val="050814"/>
            </a:solidFill>
            <a:ln w="95250">
              <a:solidFill>
                <a:srgbClr val="1E29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57250" y="2695575"/>
              <a:ext cx="2171700" cy="3905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647950" y="2276475"/>
              <a:ext cx="342900" cy="1905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857250" y="3076575"/>
              <a:ext cx="2171700" cy="9525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857250" y="2695575"/>
              <a:ext cx="2171700" cy="9525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562546" y="5572125"/>
              <a:ext cx="761107" cy="304800"/>
            </a:xfrm>
            <a:prstGeom prst="roundRect">
              <a:avLst>
                <a:gd name="adj" fmla="val 25000"/>
              </a:avLst>
            </a:prstGeom>
            <a:solidFill>
              <a:srgbClr val="7DD3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819400" y="2295525"/>
              <a:ext cx="152400" cy="152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7250" y="1600200"/>
              <a:ext cx="103733" cy="133350"/>
            </a:xfrm>
            <a:prstGeom prst="rect">
              <a:avLst/>
            </a:prstGeom>
          </p:spPr>
        </p:pic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5216" y="1600200"/>
              <a:ext cx="103733" cy="133350"/>
            </a:xfrm>
            <a:prstGeom prst="rect">
              <a:avLst/>
            </a:prstGeom>
          </p:spPr>
        </p:pic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5350" y="2824162"/>
              <a:ext cx="133350" cy="133350"/>
            </a:xfrm>
            <a:prstGeom prst="rect">
              <a:avLst/>
            </a:prstGeom>
          </p:spPr>
        </p:pic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8538" y="2847975"/>
              <a:ext cx="66823" cy="85725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169554" y="1885950"/>
              <a:ext cx="1547090" cy="20774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350" b="1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Bluetooth connect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800076" y="1600200"/>
              <a:ext cx="296556" cy="13849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0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15:52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5350" y="2300287"/>
              <a:ext cx="1372171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975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Scan Bluetooth Devices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23950" y="2819400"/>
              <a:ext cx="1381789" cy="15004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en-US" sz="975" b="1" dirty="0">
                  <a:solidFill>
                    <a:srgbClr val="22C55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Device_01 </a:t>
              </a:r>
              <a:r>
                <a:rPr sz="975" b="1" i="0" u="none" dirty="0">
                  <a:solidFill>
                    <a:srgbClr val="22C55E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(Connected)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91146" y="5648325"/>
              <a:ext cx="399157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0F172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Start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34686" y="6004642"/>
              <a:ext cx="1216680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 dirty="0">
                  <a:solidFill>
                    <a:srgbClr val="CBD5E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Connect Device: </a:t>
              </a:r>
              <a:r>
                <a:rPr lang="en-US" sz="750" b="0" i="0" u="none" dirty="0">
                  <a:solidFill>
                    <a:srgbClr val="CBD5E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Device_01</a:t>
              </a:r>
              <a:endParaRPr sz="750" b="0" i="0" u="none" dirty="0">
                <a:solidFill>
                  <a:srgbClr val="CBD5E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962400" y="2993231"/>
            <a:ext cx="1558119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藍牙掃描與自動配對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2400" y="3278981"/>
            <a:ext cx="7524750" cy="414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提供直覺的</a:t>
            </a:r>
            <a:r>
              <a:rPr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BLE </a:t>
            </a:r>
            <a:r>
              <a:rPr sz="112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裝置開關控制與掃描清單，即時回饋連線狀態（如</a:t>
            </a:r>
            <a:r>
              <a:rPr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Device_01 </a:t>
            </a:r>
            <a:r>
              <a:rPr sz="112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已連線</a:t>
            </a:r>
            <a:r>
              <a:rPr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），</a:t>
            </a:r>
            <a:r>
              <a:rPr sz="112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一鍵點擊</a:t>
            </a:r>
            <a:r>
              <a:rPr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Start </a:t>
            </a:r>
            <a:r>
              <a:rPr sz="112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進入控制主頁</a:t>
            </a:r>
            <a:r>
              <a:rPr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400" y="4279106"/>
            <a:ext cx="251427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跨平台穩定連線 (iOS / Android)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2400" y="4564856"/>
            <a:ext cx="5857373" cy="196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透過</a:t>
            </a:r>
            <a:r>
              <a:rPr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.NET MAUI </a:t>
            </a:r>
            <a:r>
              <a:rPr sz="1125" b="0" i="0" u="none" dirty="0" err="1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統一框架調用底層藍牙模組，實現低延遲、高穩定性的無線通訊協定對接</a:t>
            </a:r>
            <a:r>
              <a:rPr sz="1125" b="0" i="0" u="none" dirty="0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33800" y="2897981"/>
            <a:ext cx="7848600" cy="1095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33800" y="4183856"/>
            <a:ext cx="7848600" cy="8810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33800" y="2897981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33800" y="4183856"/>
            <a:ext cx="38100" cy="88106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9600" y="457200"/>
            <a:ext cx="132247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UI PROTOTYPE (2/2)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666750"/>
            <a:ext cx="588379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智慧天窗多分區與動態調光介面</a:t>
            </a:r>
            <a:r>
              <a:rPr sz="240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sz="2400" b="1" i="0" u="none" dirty="0" err="1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SunRoof</a:t>
            </a:r>
            <a:r>
              <a:rPr sz="2400" b="1" i="0" u="none" dirty="0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2400" y="3088481"/>
            <a:ext cx="2972737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多區塊獨立控制 (Multi-zone Control)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2400" y="3374231"/>
            <a:ext cx="7524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支援天窗 9 大分區的獨立遮光與透光率調節，透過直覺的滑桿與數值顯示（128 級亮度），滿足車主個性化與全景透光需求。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62400" y="4374356"/>
            <a:ext cx="160479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Computex 亮點展示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2400" y="4660106"/>
            <a:ext cx="6234079" cy="196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此介面成功應用於 Computex 大展展示，並順利交付 10+ 家車廠與一線客戶進行前瞻 PoC 評估。</a:t>
            </a:r>
          </a:p>
        </p:txBody>
      </p:sp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06F7E0B1-ADBA-BAAE-43D0-5F9063F85BB2}"/>
              </a:ext>
            </a:extLst>
          </p:cNvPr>
          <p:cNvGrpSpPr/>
          <p:nvPr/>
        </p:nvGrpSpPr>
        <p:grpSpPr>
          <a:xfrm>
            <a:off x="609600" y="1314450"/>
            <a:ext cx="2667000" cy="5343226"/>
            <a:chOff x="609600" y="1314450"/>
            <a:chExt cx="2667000" cy="5343226"/>
          </a:xfrm>
        </p:grpSpPr>
        <p:sp>
          <p:nvSpPr>
            <p:cNvPr id="2" name="Rounded Rectangle 1"/>
            <p:cNvSpPr/>
            <p:nvPr/>
          </p:nvSpPr>
          <p:spPr>
            <a:xfrm>
              <a:off x="609600" y="1314450"/>
              <a:ext cx="2667000" cy="5334000"/>
            </a:xfrm>
            <a:prstGeom prst="roundRect">
              <a:avLst>
                <a:gd name="adj" fmla="val 12857"/>
              </a:avLst>
            </a:prstGeom>
            <a:solidFill>
              <a:srgbClr val="050814"/>
            </a:solidFill>
            <a:ln w="95250">
              <a:solidFill>
                <a:srgbClr val="1E29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08128" y="5011126"/>
              <a:ext cx="2247900" cy="1114425"/>
            </a:xfrm>
            <a:prstGeom prst="roundRect">
              <a:avLst>
                <a:gd name="adj" fmla="val 10256"/>
              </a:avLst>
            </a:prstGeom>
            <a:solidFill>
              <a:srgbClr val="1CA3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817778" y="2018349"/>
              <a:ext cx="266700" cy="133350"/>
            </a:xfrm>
            <a:prstGeom prst="roundRect">
              <a:avLst>
                <a:gd name="adj" fmla="val 50000"/>
              </a:avLst>
            </a:prstGeom>
            <a:solidFill>
              <a:srgbClr val="6474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836828" y="2037399"/>
              <a:ext cx="95250" cy="952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98764" y="5106376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41626" y="5477851"/>
              <a:ext cx="28575" cy="428625"/>
            </a:xfrm>
            <a:prstGeom prst="rect">
              <a:avLst/>
            </a:prstGeom>
            <a:solidFill>
              <a:srgbClr val="16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141800" y="5101000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184663" y="5472475"/>
              <a:ext cx="28575" cy="428625"/>
            </a:xfrm>
            <a:prstGeom prst="rect">
              <a:avLst/>
            </a:prstGeom>
            <a:solidFill>
              <a:srgbClr val="16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615232" y="5106376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2658094" y="5477851"/>
              <a:ext cx="28575" cy="428625"/>
            </a:xfrm>
            <a:prstGeom prst="rect">
              <a:avLst/>
            </a:prstGeom>
            <a:solidFill>
              <a:srgbClr val="16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2850794" y="5106376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893656" y="5477851"/>
              <a:ext cx="28575" cy="428625"/>
            </a:xfrm>
            <a:prstGeom prst="rect">
              <a:avLst/>
            </a:prstGeom>
            <a:solidFill>
              <a:srgbClr val="16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13051" y="5677876"/>
              <a:ext cx="85725" cy="85725"/>
            </a:xfrm>
            <a:prstGeom prst="roundRect">
              <a:avLst>
                <a:gd name="adj" fmla="val 50000"/>
              </a:avLst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156088" y="5577250"/>
              <a:ext cx="85725" cy="85725"/>
            </a:xfrm>
            <a:prstGeom prst="roundRect">
              <a:avLst>
                <a:gd name="adj" fmla="val 50000"/>
              </a:avLst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629519" y="5725501"/>
              <a:ext cx="85725" cy="85725"/>
            </a:xfrm>
            <a:prstGeom prst="roundRect">
              <a:avLst>
                <a:gd name="adj" fmla="val 50000"/>
              </a:avLst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865081" y="5476436"/>
              <a:ext cx="85725" cy="85725"/>
            </a:xfrm>
            <a:prstGeom prst="roundRect">
              <a:avLst>
                <a:gd name="adj" fmla="val 50000"/>
              </a:avLst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9" name="Picture 28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9150" y="1571625"/>
              <a:ext cx="103733" cy="133350"/>
            </a:xfrm>
            <a:prstGeom prst="rect">
              <a:avLst/>
            </a:prstGeom>
          </p:spPr>
        </p:pic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3167" y="1571625"/>
              <a:ext cx="103733" cy="13335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1665237" y="1562100"/>
              <a:ext cx="561051" cy="16158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050" b="1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SunRoof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39427" y="2027402"/>
              <a:ext cx="692497" cy="1269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25" b="0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Manual mode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174846" y="2027874"/>
              <a:ext cx="562655" cy="126958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25" b="0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Auto mode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55889" y="5106376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b="1" i="0" u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906221" y="5239726"/>
              <a:ext cx="99386" cy="1038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altLang="zh-TW" sz="675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</a:t>
              </a:r>
              <a:r>
                <a:rPr lang="en-US" sz="675" b="0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</a:t>
              </a:r>
              <a:endParaRPr sz="675" b="0" i="0" u="none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20648" y="5354026"/>
              <a:ext cx="70532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35075" y="5925526"/>
              <a:ext cx="41678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98925" y="5101000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b="1" i="0" u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1149257" y="5234350"/>
              <a:ext cx="99386" cy="1038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altLang="zh-TW" sz="675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7</a:t>
              </a:r>
              <a:r>
                <a:rPr lang="en-US" sz="675" b="0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</a:t>
              </a:r>
              <a:endParaRPr sz="675" b="0" i="0" u="none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163684" y="5348650"/>
              <a:ext cx="70532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78111" y="5920150"/>
              <a:ext cx="41678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472357" y="5106376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zh-TW" sz="600" b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</a:t>
              </a:r>
              <a:endParaRPr sz="600" b="1" i="0" u="none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622689" y="5239726"/>
              <a:ext cx="99386" cy="1038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altLang="zh-TW" sz="675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en-US" sz="675" b="0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</a:t>
              </a:r>
              <a:endParaRPr sz="675" b="0" i="0" u="none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637116" y="5354026"/>
              <a:ext cx="70532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651543" y="5925526"/>
              <a:ext cx="41678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2707919" y="5106376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zh-TW" sz="600" b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</a:t>
              </a:r>
              <a:endParaRPr sz="600" b="1" i="0" u="none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833403" y="5239726"/>
              <a:ext cx="149080" cy="1038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sz="675" b="0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endParaRPr sz="675" b="0" i="0" u="none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872677" y="5354026"/>
              <a:ext cx="70532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+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887104" y="5925526"/>
              <a:ext cx="41678" cy="11541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750" b="0" i="0" u="none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57EB7198-0302-9AD5-47D4-77A9F03B690D}"/>
                </a:ext>
              </a:extLst>
            </p:cNvPr>
            <p:cNvSpPr txBox="1"/>
            <p:nvPr/>
          </p:nvSpPr>
          <p:spPr>
            <a:xfrm>
              <a:off x="1366932" y="5450192"/>
              <a:ext cx="1082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． ． ．</a:t>
              </a:r>
            </a:p>
          </p:txBody>
        </p:sp>
        <p:pic>
          <p:nvPicPr>
            <p:cNvPr id="92" name="圖片 91">
              <a:extLst>
                <a:ext uri="{FF2B5EF4-FFF2-40B4-BE49-F238E27FC236}">
                  <a16:creationId xmlns:a16="http://schemas.microsoft.com/office/drawing/2014/main" id="{D36ED697-B0D8-C1F3-A00A-458EE285E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9928" y="2502837"/>
              <a:ext cx="1467110" cy="2325592"/>
            </a:xfrm>
            <a:prstGeom prst="rect">
              <a:avLst/>
            </a:prstGeom>
          </p:spPr>
        </p:pic>
        <p:sp>
          <p:nvSpPr>
            <p:cNvPr id="11" name="Rounded Rectangle 10"/>
            <p:cNvSpPr/>
            <p:nvPr/>
          </p:nvSpPr>
          <p:spPr>
            <a:xfrm>
              <a:off x="1009892" y="2567450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009892" y="2824725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009892" y="4394981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67017" y="2567450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b="1" i="0" u="none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67017" y="2824725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b="1" i="0" u="none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67017" y="4394981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zh-TW" sz="600" b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8</a:t>
              </a:r>
              <a:endParaRPr sz="600" b="1" i="0" u="none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1" name="Rectangle 23">
              <a:extLst>
                <a:ext uri="{FF2B5EF4-FFF2-40B4-BE49-F238E27FC236}">
                  <a16:creationId xmlns:a16="http://schemas.microsoft.com/office/drawing/2014/main" id="{8840FFBF-9625-E95A-AFEC-31884F9F888F}"/>
                </a:ext>
              </a:extLst>
            </p:cNvPr>
            <p:cNvSpPr/>
            <p:nvPr/>
          </p:nvSpPr>
          <p:spPr>
            <a:xfrm>
              <a:off x="3021181" y="2724904"/>
              <a:ext cx="45719" cy="1963049"/>
            </a:xfrm>
            <a:prstGeom prst="rect">
              <a:avLst/>
            </a:prstGeom>
            <a:solidFill>
              <a:srgbClr val="16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3" name="Rounded Rectangle 27">
              <a:extLst>
                <a:ext uri="{FF2B5EF4-FFF2-40B4-BE49-F238E27FC236}">
                  <a16:creationId xmlns:a16="http://schemas.microsoft.com/office/drawing/2014/main" id="{AEA19CF2-F620-FF50-D718-275C55B2CABB}"/>
                </a:ext>
              </a:extLst>
            </p:cNvPr>
            <p:cNvSpPr/>
            <p:nvPr/>
          </p:nvSpPr>
          <p:spPr>
            <a:xfrm>
              <a:off x="3009155" y="2699438"/>
              <a:ext cx="85725" cy="85725"/>
            </a:xfrm>
            <a:prstGeom prst="roundRect">
              <a:avLst>
                <a:gd name="adj" fmla="val 50000"/>
              </a:avLst>
            </a:prstGeom>
            <a:solidFill>
              <a:srgbClr val="9333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5" name="TextBox 55">
              <a:extLst>
                <a:ext uri="{FF2B5EF4-FFF2-40B4-BE49-F238E27FC236}">
                  <a16:creationId xmlns:a16="http://schemas.microsoft.com/office/drawing/2014/main" id="{73F36B05-774C-E372-0545-6FFB0EDF09A1}"/>
                </a:ext>
              </a:extLst>
            </p:cNvPr>
            <p:cNvSpPr txBox="1"/>
            <p:nvPr/>
          </p:nvSpPr>
          <p:spPr>
            <a:xfrm>
              <a:off x="2977477" y="2471738"/>
              <a:ext cx="149080" cy="10387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en-US" sz="675" b="0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</a:t>
              </a:r>
              <a:endParaRPr sz="675" b="0" i="0" u="none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18793D51-334D-B3FA-42CD-DC6DF07C9145}"/>
                </a:ext>
              </a:extLst>
            </p:cNvPr>
            <p:cNvSpPr/>
            <p:nvPr/>
          </p:nvSpPr>
          <p:spPr>
            <a:xfrm>
              <a:off x="1224619" y="2490361"/>
              <a:ext cx="1457334" cy="24102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69CE888F-4E5E-8D78-E2B1-1334E8D2F882}"/>
                </a:ext>
              </a:extLst>
            </p:cNvPr>
            <p:cNvSpPr/>
            <p:nvPr/>
          </p:nvSpPr>
          <p:spPr>
            <a:xfrm>
              <a:off x="1224354" y="2749837"/>
              <a:ext cx="1457334" cy="24102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948592CF-D03E-BDF6-640B-FBE2629A2D97}"/>
                </a:ext>
              </a:extLst>
            </p:cNvPr>
            <p:cNvSpPr/>
            <p:nvPr/>
          </p:nvSpPr>
          <p:spPr>
            <a:xfrm>
              <a:off x="1222877" y="3005664"/>
              <a:ext cx="1457334" cy="24102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787A056C-7968-E580-BD6F-2A5261EC0B1F}"/>
                </a:ext>
              </a:extLst>
            </p:cNvPr>
            <p:cNvSpPr/>
            <p:nvPr/>
          </p:nvSpPr>
          <p:spPr>
            <a:xfrm>
              <a:off x="1222877" y="3268389"/>
              <a:ext cx="1457334" cy="24102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0E5F0F34-CE3A-A709-8D95-471CCAD8BA2F}"/>
                </a:ext>
              </a:extLst>
            </p:cNvPr>
            <p:cNvSpPr/>
            <p:nvPr/>
          </p:nvSpPr>
          <p:spPr>
            <a:xfrm>
              <a:off x="1222877" y="3532918"/>
              <a:ext cx="1457334" cy="241024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8174AB82-B3FD-BE6E-77BB-8DD288298051}"/>
                </a:ext>
              </a:extLst>
            </p:cNvPr>
            <p:cNvSpPr/>
            <p:nvPr/>
          </p:nvSpPr>
          <p:spPr>
            <a:xfrm>
              <a:off x="1222877" y="3791023"/>
              <a:ext cx="1457334" cy="24102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E5271D23-0298-D37D-67E8-6BE098D02677}"/>
                </a:ext>
              </a:extLst>
            </p:cNvPr>
            <p:cNvSpPr/>
            <p:nvPr/>
          </p:nvSpPr>
          <p:spPr>
            <a:xfrm>
              <a:off x="1222877" y="4046610"/>
              <a:ext cx="1457334" cy="24102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468C255-6EC0-5C16-2E3F-980A832BBD79}"/>
                </a:ext>
              </a:extLst>
            </p:cNvPr>
            <p:cNvSpPr/>
            <p:nvPr/>
          </p:nvSpPr>
          <p:spPr>
            <a:xfrm>
              <a:off x="1222877" y="4310415"/>
              <a:ext cx="1457334" cy="24102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0D0C4C2E-6312-7475-56BD-D959F6BE7855}"/>
                </a:ext>
              </a:extLst>
            </p:cNvPr>
            <p:cNvSpPr/>
            <p:nvPr/>
          </p:nvSpPr>
          <p:spPr>
            <a:xfrm>
              <a:off x="1222877" y="4570635"/>
              <a:ext cx="1457334" cy="24102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Rounded Rectangle 14">
              <a:extLst>
                <a:ext uri="{FF2B5EF4-FFF2-40B4-BE49-F238E27FC236}">
                  <a16:creationId xmlns:a16="http://schemas.microsoft.com/office/drawing/2014/main" id="{2F9F725E-E277-F1EA-B4DB-C6F9A72A673F}"/>
                </a:ext>
              </a:extLst>
            </p:cNvPr>
            <p:cNvSpPr/>
            <p:nvPr/>
          </p:nvSpPr>
          <p:spPr>
            <a:xfrm>
              <a:off x="1009892" y="4649239"/>
              <a:ext cx="114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8" name="TextBox 41">
              <a:extLst>
                <a:ext uri="{FF2B5EF4-FFF2-40B4-BE49-F238E27FC236}">
                  <a16:creationId xmlns:a16="http://schemas.microsoft.com/office/drawing/2014/main" id="{1E6FC60D-80A5-ECC9-B9BC-D0EA3DA9E3C0}"/>
                </a:ext>
              </a:extLst>
            </p:cNvPr>
            <p:cNvSpPr txBox="1"/>
            <p:nvPr/>
          </p:nvSpPr>
          <p:spPr>
            <a:xfrm>
              <a:off x="867017" y="4649239"/>
              <a:ext cx="400050" cy="9233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altLang="zh-TW" sz="600" b="1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</a:t>
              </a:r>
              <a:endParaRPr sz="600" b="1" i="0" u="none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C2FC7F41-4DDA-58B7-E92E-3C2EB4AB07BD}"/>
                </a:ext>
              </a:extLst>
            </p:cNvPr>
            <p:cNvSpPr txBox="1"/>
            <p:nvPr/>
          </p:nvSpPr>
          <p:spPr>
            <a:xfrm rot="5400000">
              <a:off x="527129" y="3458469"/>
              <a:ext cx="10823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． ． ．</a:t>
              </a:r>
            </a:p>
          </p:txBody>
        </p:sp>
        <p:sp>
          <p:nvSpPr>
            <p:cNvPr id="95" name="矩形: 圓角 94">
              <a:extLst>
                <a:ext uri="{FF2B5EF4-FFF2-40B4-BE49-F238E27FC236}">
                  <a16:creationId xmlns:a16="http://schemas.microsoft.com/office/drawing/2014/main" id="{11BB39C0-10EF-89DD-86B5-6B7B41AD0140}"/>
                </a:ext>
              </a:extLst>
            </p:cNvPr>
            <p:cNvSpPr/>
            <p:nvPr/>
          </p:nvSpPr>
          <p:spPr>
            <a:xfrm>
              <a:off x="609600" y="6230002"/>
              <a:ext cx="2667000" cy="427674"/>
            </a:xfrm>
            <a:prstGeom prst="roundRect">
              <a:avLst>
                <a:gd name="adj" fmla="val 43649"/>
              </a:avLst>
            </a:prstGeom>
            <a:solidFill>
              <a:schemeClr val="bg1">
                <a:lumMod val="65000"/>
              </a:schemeClr>
            </a:solidFill>
            <a:ln w="95250">
              <a:solidFill>
                <a:srgbClr val="1E29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884D27C9-C051-92CB-A072-8209FE6F8DB7}"/>
                </a:ext>
              </a:extLst>
            </p:cNvPr>
            <p:cNvSpPr txBox="1"/>
            <p:nvPr/>
          </p:nvSpPr>
          <p:spPr>
            <a:xfrm>
              <a:off x="694838" y="6325018"/>
              <a:ext cx="67358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zh-TW" sz="900" dirty="0">
                  <a:solidFill>
                    <a:schemeClr val="bg1"/>
                  </a:solidFill>
                </a:rPr>
                <a:t>Customize</a:t>
              </a: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3C371D73-B345-637D-A190-99B5958E0A1A}"/>
                </a:ext>
              </a:extLst>
            </p:cNvPr>
            <p:cNvSpPr txBox="1"/>
            <p:nvPr/>
          </p:nvSpPr>
          <p:spPr>
            <a:xfrm>
              <a:off x="1480345" y="6329401"/>
              <a:ext cx="33534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</a:rPr>
                <a:t>full</a:t>
              </a:r>
              <a:endParaRPr lang="zh-TW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7527B35B-D8EF-10BF-B43B-2CD71840F566}"/>
                </a:ext>
              </a:extLst>
            </p:cNvPr>
            <p:cNvSpPr txBox="1"/>
            <p:nvPr/>
          </p:nvSpPr>
          <p:spPr>
            <a:xfrm>
              <a:off x="1972397" y="6324012"/>
              <a:ext cx="51488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zh-TW" sz="900" dirty="0">
                  <a:solidFill>
                    <a:schemeClr val="bg1"/>
                  </a:solidFill>
                </a:rPr>
                <a:t>grating</a:t>
              </a:r>
              <a:endParaRPr lang="zh-TW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6C08DC57-910A-48CD-EC95-A3DD0FE374C3}"/>
                </a:ext>
              </a:extLst>
            </p:cNvPr>
            <p:cNvSpPr txBox="1"/>
            <p:nvPr/>
          </p:nvSpPr>
          <p:spPr>
            <a:xfrm>
              <a:off x="2651444" y="6338870"/>
              <a:ext cx="36260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900" dirty="0">
                  <a:solidFill>
                    <a:schemeClr val="bg1"/>
                  </a:solidFill>
                </a:rPr>
                <a:t>half</a:t>
              </a:r>
              <a:endParaRPr lang="zh-TW" altLang="en-US" sz="900" dirty="0">
                <a:solidFill>
                  <a:schemeClr val="bg1"/>
                </a:solidFill>
              </a:endParaRPr>
            </a:p>
          </p:txBody>
        </p:sp>
        <p:cxnSp>
          <p:nvCxnSpPr>
            <p:cNvPr id="104" name="直線接點 103">
              <a:extLst>
                <a:ext uri="{FF2B5EF4-FFF2-40B4-BE49-F238E27FC236}">
                  <a16:creationId xmlns:a16="http://schemas.microsoft.com/office/drawing/2014/main" id="{AFC5E62E-7B99-06BD-CDC3-CF192739ECA4}"/>
                </a:ext>
              </a:extLst>
            </p:cNvPr>
            <p:cNvCxnSpPr>
              <a:cxnSpLocks/>
            </p:cNvCxnSpPr>
            <p:nvPr/>
          </p:nvCxnSpPr>
          <p:spPr>
            <a:xfrm>
              <a:off x="1950184" y="6294555"/>
              <a:ext cx="0" cy="3077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線接點 108">
              <a:extLst>
                <a:ext uri="{FF2B5EF4-FFF2-40B4-BE49-F238E27FC236}">
                  <a16:creationId xmlns:a16="http://schemas.microsoft.com/office/drawing/2014/main" id="{494C51D3-B441-1881-828B-058B3C335F12}"/>
                </a:ext>
              </a:extLst>
            </p:cNvPr>
            <p:cNvCxnSpPr>
              <a:cxnSpLocks/>
            </p:cNvCxnSpPr>
            <p:nvPr/>
          </p:nvCxnSpPr>
          <p:spPr>
            <a:xfrm>
              <a:off x="2518317" y="6287730"/>
              <a:ext cx="0" cy="3077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線接點 109">
              <a:extLst>
                <a:ext uri="{FF2B5EF4-FFF2-40B4-BE49-F238E27FC236}">
                  <a16:creationId xmlns:a16="http://schemas.microsoft.com/office/drawing/2014/main" id="{89B9155C-7394-AE1C-02C8-4996D297F0A2}"/>
                </a:ext>
              </a:extLst>
            </p:cNvPr>
            <p:cNvCxnSpPr>
              <a:cxnSpLocks/>
            </p:cNvCxnSpPr>
            <p:nvPr/>
          </p:nvCxnSpPr>
          <p:spPr>
            <a:xfrm>
              <a:off x="1363952" y="6294519"/>
              <a:ext cx="0" cy="30777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76EF43-9D90-0B23-AB49-C00C52BCD53B}"/>
              </a:ext>
            </a:extLst>
          </p:cNvPr>
          <p:cNvSpPr/>
          <p:nvPr/>
        </p:nvSpPr>
        <p:spPr>
          <a:xfrm>
            <a:off x="533401" y="801961"/>
            <a:ext cx="8954632" cy="5254079"/>
          </a:xfrm>
          <a:prstGeom prst="roundRect">
            <a:avLst>
              <a:gd name="adj" fmla="val 2175"/>
            </a:avLst>
          </a:prstGeom>
          <a:solidFill>
            <a:srgbClr val="09090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C9DC1-AB0D-7AB6-935A-53DBF3A4578C}"/>
              </a:ext>
            </a:extLst>
          </p:cNvPr>
          <p:cNvSpPr/>
          <p:nvPr/>
        </p:nvSpPr>
        <p:spPr>
          <a:xfrm>
            <a:off x="7834014" y="5017816"/>
            <a:ext cx="3424683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FD335DA2-5D27-3FAA-BEEA-34F3AC27CB82}"/>
              </a:ext>
            </a:extLst>
          </p:cNvPr>
          <p:cNvGrpSpPr/>
          <p:nvPr/>
        </p:nvGrpSpPr>
        <p:grpSpPr>
          <a:xfrm>
            <a:off x="771525" y="1040086"/>
            <a:ext cx="2589987" cy="4777829"/>
            <a:chOff x="771525" y="1040086"/>
            <a:chExt cx="2589987" cy="4777829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EFE8EBAA-1754-5611-E98E-B121E597BD88}"/>
                </a:ext>
              </a:extLst>
            </p:cNvPr>
            <p:cNvSpPr/>
            <p:nvPr/>
          </p:nvSpPr>
          <p:spPr>
            <a:xfrm>
              <a:off x="771525" y="1040086"/>
              <a:ext cx="2589987" cy="4777829"/>
            </a:xfrm>
            <a:prstGeom prst="roundRect">
              <a:avLst>
                <a:gd name="adj" fmla="val 2575"/>
              </a:avLst>
            </a:prstGeom>
            <a:solidFill>
              <a:srgbClr val="121215"/>
            </a:solidFill>
            <a:ln w="9525">
              <a:solidFill>
                <a:srgbClr val="3F3F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A119C4A-305F-BC68-E481-B8BE5F38240B}"/>
                </a:ext>
              </a:extLst>
            </p:cNvPr>
            <p:cNvSpPr/>
            <p:nvPr/>
          </p:nvSpPr>
          <p:spPr>
            <a:xfrm>
              <a:off x="933450" y="1506811"/>
              <a:ext cx="2234703" cy="3682454"/>
            </a:xfrm>
            <a:prstGeom prst="roundRect">
              <a:avLst>
                <a:gd name="adj" fmla="val 2169"/>
              </a:avLst>
            </a:prstGeom>
            <a:solidFill>
              <a:srgbClr val="18181B"/>
            </a:solidFill>
            <a:ln w="9525">
              <a:solidFill>
                <a:srgbClr val="2727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6BAE719-F2D1-0AA3-CE0F-69C44736F7AF}"/>
                </a:ext>
              </a:extLst>
            </p:cNvPr>
            <p:cNvSpPr/>
            <p:nvPr/>
          </p:nvSpPr>
          <p:spPr>
            <a:xfrm>
              <a:off x="1019175" y="1992586"/>
              <a:ext cx="2040896" cy="342900"/>
            </a:xfrm>
            <a:prstGeom prst="roundRect">
              <a:avLst>
                <a:gd name="adj" fmla="val 11111"/>
              </a:avLst>
            </a:prstGeom>
            <a:solidFill>
              <a:srgbClr val="0284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CFB04B2-E16C-90A4-D70A-7780C07348CA}"/>
                </a:ext>
              </a:extLst>
            </p:cNvPr>
            <p:cNvSpPr/>
            <p:nvPr/>
          </p:nvSpPr>
          <p:spPr>
            <a:xfrm>
              <a:off x="933451" y="5303566"/>
              <a:ext cx="1065188" cy="371474"/>
            </a:xfrm>
            <a:prstGeom prst="roundRect">
              <a:avLst>
                <a:gd name="adj" fmla="val 10810"/>
              </a:avLst>
            </a:prstGeom>
            <a:solidFill>
              <a:srgbClr val="27272A"/>
            </a:solidFill>
            <a:ln w="9525">
              <a:solidFill>
                <a:srgbClr val="5252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9BEEC8AF-1A68-7E5F-0486-E2984648AE52}"/>
                </a:ext>
              </a:extLst>
            </p:cNvPr>
            <p:cNvSpPr/>
            <p:nvPr/>
          </p:nvSpPr>
          <p:spPr>
            <a:xfrm>
              <a:off x="2090878" y="5303566"/>
              <a:ext cx="1085818" cy="371474"/>
            </a:xfrm>
            <a:prstGeom prst="roundRect">
              <a:avLst>
                <a:gd name="adj" fmla="val 10810"/>
              </a:avLst>
            </a:prstGeom>
            <a:solidFill>
              <a:srgbClr val="27272A"/>
            </a:solidFill>
            <a:ln w="9525">
              <a:solidFill>
                <a:srgbClr val="5252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3900075-8429-B232-065C-28C849B86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3450" y="1230586"/>
              <a:ext cx="133350" cy="133350"/>
            </a:xfrm>
            <a:prstGeom prst="rect">
              <a:avLst/>
            </a:prstGeom>
          </p:spPr>
        </p:pic>
        <p:sp>
          <p:nvSpPr>
            <p:cNvPr id="26" name="TextBox 28">
              <a:extLst>
                <a:ext uri="{FF2B5EF4-FFF2-40B4-BE49-F238E27FC236}">
                  <a16:creationId xmlns:a16="http://schemas.microsoft.com/office/drawing/2014/main" id="{27D20307-8E70-F7F8-B010-1BEF1E411404}"/>
                </a:ext>
              </a:extLst>
            </p:cNvPr>
            <p:cNvSpPr txBox="1"/>
            <p:nvPr/>
          </p:nvSpPr>
          <p:spPr>
            <a:xfrm>
              <a:off x="1143000" y="1216469"/>
              <a:ext cx="718145" cy="161583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1050" b="1" i="0" u="none" dirty="0">
                  <a:solidFill>
                    <a:srgbClr val="38BDF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Macro </a:t>
              </a:r>
              <a:r>
                <a:rPr lang="zh-TW" altLang="en-US" sz="1050" b="1" i="0" u="none" dirty="0">
                  <a:solidFill>
                    <a:srgbClr val="38BDF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列表</a:t>
              </a:r>
              <a:endParaRPr sz="1050" b="1" i="0" u="none" dirty="0">
                <a:solidFill>
                  <a:srgbClr val="38BDF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TextBox 30">
              <a:extLst>
                <a:ext uri="{FF2B5EF4-FFF2-40B4-BE49-F238E27FC236}">
                  <a16:creationId xmlns:a16="http://schemas.microsoft.com/office/drawing/2014/main" id="{66742F9E-9454-0C23-3CAF-44C4F0075E60}"/>
                </a:ext>
              </a:extLst>
            </p:cNvPr>
            <p:cNvSpPr txBox="1"/>
            <p:nvPr/>
          </p:nvSpPr>
          <p:spPr>
            <a:xfrm>
              <a:off x="1133475" y="1668736"/>
              <a:ext cx="1868299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050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Task_1</a:t>
              </a:r>
              <a:endParaRPr sz="1050" b="0" i="0" u="none" dirty="0">
                <a:solidFill>
                  <a:srgbClr val="A1A1A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TextBox 31">
              <a:extLst>
                <a:ext uri="{FF2B5EF4-FFF2-40B4-BE49-F238E27FC236}">
                  <a16:creationId xmlns:a16="http://schemas.microsoft.com/office/drawing/2014/main" id="{46BB5029-84AB-699B-1316-DBD9A6F699DA}"/>
                </a:ext>
              </a:extLst>
            </p:cNvPr>
            <p:cNvSpPr txBox="1"/>
            <p:nvPr/>
          </p:nvSpPr>
          <p:spPr>
            <a:xfrm>
              <a:off x="1133475" y="2068786"/>
              <a:ext cx="1202319" cy="1615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050" b="1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Task_2</a:t>
              </a:r>
              <a:endParaRPr sz="1050" b="1" i="0" u="none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TextBox 32">
              <a:extLst>
                <a:ext uri="{FF2B5EF4-FFF2-40B4-BE49-F238E27FC236}">
                  <a16:creationId xmlns:a16="http://schemas.microsoft.com/office/drawing/2014/main" id="{C9A78A28-4E54-10E6-A99C-A5E3265D4386}"/>
                </a:ext>
              </a:extLst>
            </p:cNvPr>
            <p:cNvSpPr txBox="1"/>
            <p:nvPr/>
          </p:nvSpPr>
          <p:spPr>
            <a:xfrm>
              <a:off x="965019" y="5427390"/>
              <a:ext cx="1009234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TW" altLang="en-US" sz="975" b="0" i="0" u="none" dirty="0">
                  <a:solidFill>
                    <a:srgbClr val="F4F4F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新增 </a:t>
              </a:r>
              <a:r>
                <a:rPr lang="en-US" altLang="zh-TW" sz="975" b="0" i="0" u="none" dirty="0">
                  <a:solidFill>
                    <a:srgbClr val="F4F4F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Macro</a:t>
              </a:r>
              <a:endParaRPr sz="975" b="0" i="0" u="none" dirty="0">
                <a:solidFill>
                  <a:srgbClr val="F4F4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TextBox 33">
              <a:extLst>
                <a:ext uri="{FF2B5EF4-FFF2-40B4-BE49-F238E27FC236}">
                  <a16:creationId xmlns:a16="http://schemas.microsoft.com/office/drawing/2014/main" id="{FB105A96-3868-45A8-3244-2B8DF126E01E}"/>
                </a:ext>
              </a:extLst>
            </p:cNvPr>
            <p:cNvSpPr txBox="1"/>
            <p:nvPr/>
          </p:nvSpPr>
          <p:spPr>
            <a:xfrm>
              <a:off x="2205130" y="5405937"/>
              <a:ext cx="854941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75" b="0" i="0" u="none" dirty="0" err="1">
                  <a:solidFill>
                    <a:srgbClr val="F4F4F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删除</a:t>
              </a:r>
              <a:endParaRPr sz="975" b="0" i="0" u="none" dirty="0">
                <a:solidFill>
                  <a:srgbClr val="F4F4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57" name="群組 56">
            <a:extLst>
              <a:ext uri="{FF2B5EF4-FFF2-40B4-BE49-F238E27FC236}">
                <a16:creationId xmlns:a16="http://schemas.microsoft.com/office/drawing/2014/main" id="{6B04ABC6-E5BB-2716-E645-6F4BC937A71D}"/>
              </a:ext>
            </a:extLst>
          </p:cNvPr>
          <p:cNvGrpSpPr/>
          <p:nvPr/>
        </p:nvGrpSpPr>
        <p:grpSpPr>
          <a:xfrm>
            <a:off x="3506013" y="1040086"/>
            <a:ext cx="2589987" cy="4777829"/>
            <a:chOff x="3958381" y="1040086"/>
            <a:chExt cx="2589987" cy="477782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664CB71-6ACA-7215-77A0-D63AC168F8E2}"/>
                </a:ext>
              </a:extLst>
            </p:cNvPr>
            <p:cNvSpPr/>
            <p:nvPr/>
          </p:nvSpPr>
          <p:spPr>
            <a:xfrm>
              <a:off x="3958381" y="1040086"/>
              <a:ext cx="2589987" cy="4777829"/>
            </a:xfrm>
            <a:prstGeom prst="roundRect">
              <a:avLst>
                <a:gd name="adj" fmla="val 2186"/>
              </a:avLst>
            </a:prstGeom>
            <a:solidFill>
              <a:srgbClr val="121215"/>
            </a:solidFill>
            <a:ln w="9525">
              <a:solidFill>
                <a:srgbClr val="3F3F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9AC8AFE-2A02-180F-3FBA-696651E2EA66}"/>
                </a:ext>
              </a:extLst>
            </p:cNvPr>
            <p:cNvSpPr/>
            <p:nvPr/>
          </p:nvSpPr>
          <p:spPr>
            <a:xfrm>
              <a:off x="4125274" y="1506811"/>
              <a:ext cx="2240488" cy="3672929"/>
            </a:xfrm>
            <a:prstGeom prst="roundRect">
              <a:avLst>
                <a:gd name="adj" fmla="val 1807"/>
              </a:avLst>
            </a:prstGeom>
            <a:solidFill>
              <a:srgbClr val="18181B"/>
            </a:solidFill>
            <a:ln w="9525">
              <a:solidFill>
                <a:srgbClr val="2727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DD97C9-6975-31E7-C815-1C20F97A1192}"/>
                </a:ext>
              </a:extLst>
            </p:cNvPr>
            <p:cNvSpPr/>
            <p:nvPr/>
          </p:nvSpPr>
          <p:spPr>
            <a:xfrm>
              <a:off x="4120306" y="5313874"/>
              <a:ext cx="1065336" cy="370296"/>
            </a:xfrm>
            <a:prstGeom prst="roundRect">
              <a:avLst>
                <a:gd name="adj" fmla="val 10810"/>
              </a:avLst>
            </a:prstGeom>
            <a:solidFill>
              <a:srgbClr val="27272A"/>
            </a:solidFill>
            <a:ln w="9525">
              <a:solidFill>
                <a:srgbClr val="5252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1BA27FC-6826-66E8-8C2A-D9DF53389A3A}"/>
                </a:ext>
              </a:extLst>
            </p:cNvPr>
            <p:cNvSpPr/>
            <p:nvPr/>
          </p:nvSpPr>
          <p:spPr>
            <a:xfrm>
              <a:off x="5300426" y="5304744"/>
              <a:ext cx="1065336" cy="370296"/>
            </a:xfrm>
            <a:prstGeom prst="roundRect">
              <a:avLst>
                <a:gd name="adj" fmla="val 10810"/>
              </a:avLst>
            </a:prstGeom>
            <a:solidFill>
              <a:srgbClr val="27272A"/>
            </a:solidFill>
            <a:ln w="9525">
              <a:solidFill>
                <a:srgbClr val="5252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8ADEDAC-F59C-A8F2-B56C-E4BBC5A16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20306" y="1235349"/>
              <a:ext cx="152400" cy="133350"/>
            </a:xfrm>
            <a:prstGeom prst="rect">
              <a:avLst/>
            </a:prstGeom>
          </p:spPr>
        </p:pic>
        <p:sp>
          <p:nvSpPr>
            <p:cNvPr id="27" name="TextBox 29">
              <a:extLst>
                <a:ext uri="{FF2B5EF4-FFF2-40B4-BE49-F238E27FC236}">
                  <a16:creationId xmlns:a16="http://schemas.microsoft.com/office/drawing/2014/main" id="{91553A66-D3C1-9AE5-8AD5-62DF43001960}"/>
                </a:ext>
              </a:extLst>
            </p:cNvPr>
            <p:cNvSpPr txBox="1"/>
            <p:nvPr/>
          </p:nvSpPr>
          <p:spPr>
            <a:xfrm>
              <a:off x="4348906" y="1214174"/>
              <a:ext cx="1155601" cy="16158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TW" altLang="en-US" sz="1050" b="1" dirty="0">
                  <a:solidFill>
                    <a:srgbClr val="38BDF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按鍵列表</a:t>
              </a:r>
              <a:endParaRPr sz="1050" b="1" i="0" u="none" dirty="0">
                <a:solidFill>
                  <a:srgbClr val="38BDF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0839A5B3-4BC7-8733-4BE6-D124EB03758E}"/>
                </a:ext>
              </a:extLst>
            </p:cNvPr>
            <p:cNvSpPr txBox="1"/>
            <p:nvPr/>
          </p:nvSpPr>
          <p:spPr>
            <a:xfrm>
              <a:off x="4263181" y="1640161"/>
              <a:ext cx="1431449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>
                  <a:solidFill>
                    <a:srgbClr val="38BDF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↓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Q</a:t>
              </a:r>
            </a:p>
          </p:txBody>
        </p:sp>
        <p:sp>
          <p:nvSpPr>
            <p:cNvPr id="33" name="TextBox 35">
              <a:extLst>
                <a:ext uri="{FF2B5EF4-FFF2-40B4-BE49-F238E27FC236}">
                  <a16:creationId xmlns:a16="http://schemas.microsoft.com/office/drawing/2014/main" id="{3B67C6A7-F6A4-1075-82B6-6C5E0687BF56}"/>
                </a:ext>
              </a:extLst>
            </p:cNvPr>
            <p:cNvSpPr txBox="1"/>
            <p:nvPr/>
          </p:nvSpPr>
          <p:spPr>
            <a:xfrm>
              <a:off x="4263182" y="1887812"/>
              <a:ext cx="1684945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TW" altLang="en-US" sz="975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 </a:t>
              </a:r>
              <a:r>
                <a:rPr sz="975" b="0" i="0" u="none" dirty="0" err="1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ms</a:t>
              </a:r>
              <a:endParaRPr sz="975" b="0" i="0" u="none" dirty="0">
                <a:solidFill>
                  <a:srgbClr val="D4D4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7C6D62D9-39AF-DA42-3A58-B8E70DE6E26D}"/>
                </a:ext>
              </a:extLst>
            </p:cNvPr>
            <p:cNvSpPr txBox="1"/>
            <p:nvPr/>
          </p:nvSpPr>
          <p:spPr>
            <a:xfrm>
              <a:off x="4263181" y="2125936"/>
              <a:ext cx="1621571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>
                  <a:solidFill>
                    <a:srgbClr val="EF444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↑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Q</a:t>
              </a:r>
            </a:p>
          </p:txBody>
        </p:sp>
        <p:sp>
          <p:nvSpPr>
            <p:cNvPr id="35" name="TextBox 37">
              <a:extLst>
                <a:ext uri="{FF2B5EF4-FFF2-40B4-BE49-F238E27FC236}">
                  <a16:creationId xmlns:a16="http://schemas.microsoft.com/office/drawing/2014/main" id="{9B4DB674-677B-B891-8BEC-25D70117E069}"/>
                </a:ext>
              </a:extLst>
            </p:cNvPr>
            <p:cNvSpPr txBox="1"/>
            <p:nvPr/>
          </p:nvSpPr>
          <p:spPr>
            <a:xfrm>
              <a:off x="4263182" y="2373587"/>
              <a:ext cx="1794530" cy="1523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TW" altLang="en-US" sz="975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</a:t>
              </a:r>
              <a:r>
                <a:rPr lang="zh-TW" altLang="en-US" sz="975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367 </a:t>
              </a:r>
              <a:r>
                <a:rPr sz="975" b="0" i="0" u="none" dirty="0" err="1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ms</a:t>
              </a:r>
              <a:endParaRPr sz="975" b="0" i="0" u="none" dirty="0">
                <a:solidFill>
                  <a:srgbClr val="D4D4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6" name="TextBox 38">
              <a:extLst>
                <a:ext uri="{FF2B5EF4-FFF2-40B4-BE49-F238E27FC236}">
                  <a16:creationId xmlns:a16="http://schemas.microsoft.com/office/drawing/2014/main" id="{A94C6604-C864-BB4E-9EB4-4AA15609BEB3}"/>
                </a:ext>
              </a:extLst>
            </p:cNvPr>
            <p:cNvSpPr txBox="1"/>
            <p:nvPr/>
          </p:nvSpPr>
          <p:spPr>
            <a:xfrm>
              <a:off x="4263181" y="2611711"/>
              <a:ext cx="1494823" cy="1500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>
                  <a:solidFill>
                    <a:srgbClr val="38BDF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↓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</a:t>
              </a:r>
            </a:p>
          </p:txBody>
        </p:sp>
        <p:sp>
          <p:nvSpPr>
            <p:cNvPr id="37" name="TextBox 39">
              <a:extLst>
                <a:ext uri="{FF2B5EF4-FFF2-40B4-BE49-F238E27FC236}">
                  <a16:creationId xmlns:a16="http://schemas.microsoft.com/office/drawing/2014/main" id="{D50459FB-5B38-2E6D-5B6F-56CB4BD2D6EE}"/>
                </a:ext>
              </a:extLst>
            </p:cNvPr>
            <p:cNvSpPr txBox="1"/>
            <p:nvPr/>
          </p:nvSpPr>
          <p:spPr>
            <a:xfrm>
              <a:off x="4263182" y="2859361"/>
              <a:ext cx="1241326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TW" altLang="en-US" sz="975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A1A1A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65 </a:t>
              </a:r>
              <a:r>
                <a:rPr sz="975" b="0" i="0" u="none" dirty="0" err="1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ms</a:t>
              </a:r>
              <a:endParaRPr sz="975" b="0" i="0" u="none" dirty="0">
                <a:solidFill>
                  <a:srgbClr val="D4D4D8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8" name="TextBox 40">
              <a:extLst>
                <a:ext uri="{FF2B5EF4-FFF2-40B4-BE49-F238E27FC236}">
                  <a16:creationId xmlns:a16="http://schemas.microsoft.com/office/drawing/2014/main" id="{905912D2-D5B0-E218-AAE9-BADCC5756319}"/>
                </a:ext>
              </a:extLst>
            </p:cNvPr>
            <p:cNvSpPr txBox="1"/>
            <p:nvPr/>
          </p:nvSpPr>
          <p:spPr>
            <a:xfrm>
              <a:off x="4263181" y="3097486"/>
              <a:ext cx="1832819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>
                  <a:solidFill>
                    <a:srgbClr val="EF4444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↑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zh-TW" altLang="en-US"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sz="975" b="0" i="0" u="none" dirty="0">
                  <a:solidFill>
                    <a:srgbClr val="D4D4D8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</a:t>
              </a:r>
            </a:p>
          </p:txBody>
        </p:sp>
        <p:sp>
          <p:nvSpPr>
            <p:cNvPr id="39" name="TextBox 41">
              <a:extLst>
                <a:ext uri="{FF2B5EF4-FFF2-40B4-BE49-F238E27FC236}">
                  <a16:creationId xmlns:a16="http://schemas.microsoft.com/office/drawing/2014/main" id="{B1DE9F58-D8D2-B6AD-C0B7-00C424D204E2}"/>
                </a:ext>
              </a:extLst>
            </p:cNvPr>
            <p:cNvSpPr txBox="1"/>
            <p:nvPr/>
          </p:nvSpPr>
          <p:spPr>
            <a:xfrm>
              <a:off x="4300417" y="5423805"/>
              <a:ext cx="704121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75" b="0" i="0" u="none" dirty="0" err="1">
                  <a:solidFill>
                    <a:srgbClr val="F4F4F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修改</a:t>
              </a:r>
              <a:r>
                <a:rPr lang="zh-TW" altLang="en-US" sz="975" dirty="0">
                  <a:solidFill>
                    <a:srgbClr val="F4F4F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按鍵</a:t>
              </a:r>
              <a:endParaRPr sz="975" b="0" i="0" u="none" dirty="0">
                <a:solidFill>
                  <a:srgbClr val="F4F4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TextBox 42">
              <a:extLst>
                <a:ext uri="{FF2B5EF4-FFF2-40B4-BE49-F238E27FC236}">
                  <a16:creationId xmlns:a16="http://schemas.microsoft.com/office/drawing/2014/main" id="{94655281-8121-322F-46E8-7EB6DD0F1E9C}"/>
                </a:ext>
              </a:extLst>
            </p:cNvPr>
            <p:cNvSpPr txBox="1"/>
            <p:nvPr/>
          </p:nvSpPr>
          <p:spPr>
            <a:xfrm>
              <a:off x="5584195" y="5405937"/>
              <a:ext cx="473516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sz="975" b="0" i="0" u="none" dirty="0" err="1">
                  <a:solidFill>
                    <a:srgbClr val="F4F4F5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删除</a:t>
              </a:r>
              <a:endParaRPr sz="975" b="0" i="0" u="none" dirty="0">
                <a:solidFill>
                  <a:srgbClr val="F4F4F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7264AF90-E209-8A62-2783-BD73760FDF4A}"/>
              </a:ext>
            </a:extLst>
          </p:cNvPr>
          <p:cNvGrpSpPr/>
          <p:nvPr/>
        </p:nvGrpSpPr>
        <p:grpSpPr>
          <a:xfrm>
            <a:off x="6240501" y="1040086"/>
            <a:ext cx="3001947" cy="4777829"/>
            <a:chOff x="7672089" y="1040086"/>
            <a:chExt cx="3001947" cy="4777829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BE970DC-B919-ECFD-9859-05AB10B1FB9E}"/>
                </a:ext>
              </a:extLst>
            </p:cNvPr>
            <p:cNvSpPr/>
            <p:nvPr/>
          </p:nvSpPr>
          <p:spPr>
            <a:xfrm>
              <a:off x="7672089" y="1040086"/>
              <a:ext cx="3001947" cy="4777829"/>
            </a:xfrm>
            <a:prstGeom prst="roundRect">
              <a:avLst>
                <a:gd name="adj" fmla="val 2032"/>
              </a:avLst>
            </a:prstGeom>
            <a:solidFill>
              <a:srgbClr val="121215"/>
            </a:solidFill>
            <a:ln w="9525">
              <a:solidFill>
                <a:srgbClr val="3F3F4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119E874-DB8C-5991-71BB-01422CE53B30}"/>
                </a:ext>
              </a:extLst>
            </p:cNvPr>
            <p:cNvSpPr/>
            <p:nvPr/>
          </p:nvSpPr>
          <p:spPr>
            <a:xfrm>
              <a:off x="7834014" y="1544911"/>
              <a:ext cx="800100" cy="342900"/>
            </a:xfrm>
            <a:prstGeom prst="roundRect">
              <a:avLst>
                <a:gd name="adj" fmla="val 11111"/>
              </a:avLst>
            </a:prstGeom>
            <a:solidFill>
              <a:srgbClr val="0284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7870C790-1E5E-E045-DC1F-263A5EFE615F}"/>
                </a:ext>
              </a:extLst>
            </p:cNvPr>
            <p:cNvSpPr/>
            <p:nvPr/>
          </p:nvSpPr>
          <p:spPr>
            <a:xfrm>
              <a:off x="8729363" y="1544911"/>
              <a:ext cx="800099" cy="342900"/>
            </a:xfrm>
            <a:prstGeom prst="roundRect">
              <a:avLst>
                <a:gd name="adj" fmla="val 11111"/>
              </a:avLst>
            </a:prstGeom>
            <a:solidFill>
              <a:srgbClr val="27272A"/>
            </a:solidFill>
            <a:ln w="9525">
              <a:solidFill>
                <a:srgbClr val="52525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sz="975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CECB29E-6598-6EF5-FB8C-6A19614227E4}"/>
                </a:ext>
              </a:extLst>
            </p:cNvPr>
            <p:cNvSpPr/>
            <p:nvPr/>
          </p:nvSpPr>
          <p:spPr>
            <a:xfrm>
              <a:off x="7834014" y="2068786"/>
              <a:ext cx="133350" cy="133350"/>
            </a:xfrm>
            <a:prstGeom prst="roundRect">
              <a:avLst>
                <a:gd name="adj" fmla="val 14285"/>
              </a:avLst>
            </a:prstGeom>
            <a:solidFill>
              <a:srgbClr val="27272A"/>
            </a:solidFill>
            <a:ln w="9525">
              <a:solidFill>
                <a:srgbClr val="7171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20E3FFB3-564D-FD21-EA6A-88C31A0AAB8A}"/>
                </a:ext>
              </a:extLst>
            </p:cNvPr>
            <p:cNvSpPr/>
            <p:nvPr/>
          </p:nvSpPr>
          <p:spPr>
            <a:xfrm>
              <a:off x="7834014" y="2392636"/>
              <a:ext cx="133350" cy="13335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61433A53-3C4F-01CD-39E0-6AB7F81A3792}"/>
                </a:ext>
              </a:extLst>
            </p:cNvPr>
            <p:cNvSpPr/>
            <p:nvPr/>
          </p:nvSpPr>
          <p:spPr>
            <a:xfrm>
              <a:off x="7834014" y="2678386"/>
              <a:ext cx="133350" cy="133350"/>
            </a:xfrm>
            <a:prstGeom prst="roundRect">
              <a:avLst>
                <a:gd name="adj" fmla="val 50000"/>
              </a:avLst>
            </a:prstGeom>
            <a:solidFill>
              <a:srgbClr val="27272A"/>
            </a:solidFill>
            <a:ln w="9525">
              <a:solidFill>
                <a:srgbClr val="7171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37F5CC15-FA64-9EEA-2106-C0E8BE627A0D}"/>
                </a:ext>
              </a:extLst>
            </p:cNvPr>
            <p:cNvSpPr/>
            <p:nvPr/>
          </p:nvSpPr>
          <p:spPr>
            <a:xfrm>
              <a:off x="7834014" y="2964136"/>
              <a:ext cx="133350" cy="133350"/>
            </a:xfrm>
            <a:prstGeom prst="roundRect">
              <a:avLst>
                <a:gd name="adj" fmla="val 50000"/>
              </a:avLst>
            </a:prstGeom>
            <a:solidFill>
              <a:srgbClr val="27272A"/>
            </a:solidFill>
            <a:ln w="9525">
              <a:solidFill>
                <a:srgbClr val="7171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29B105F-E4E4-9D9F-6ADA-0788E0B4F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34014" y="1230586"/>
              <a:ext cx="133350" cy="133350"/>
            </a:xfrm>
            <a:prstGeom prst="rect">
              <a:avLst/>
            </a:prstGeom>
          </p:spPr>
        </p:pic>
        <p:sp>
          <p:nvSpPr>
            <p:cNvPr id="41" name="TextBox 44">
              <a:extLst>
                <a:ext uri="{FF2B5EF4-FFF2-40B4-BE49-F238E27FC236}">
                  <a16:creationId xmlns:a16="http://schemas.microsoft.com/office/drawing/2014/main" id="{1DE7B13C-F00B-590C-54F5-03C47592B7E5}"/>
                </a:ext>
              </a:extLst>
            </p:cNvPr>
            <p:cNvSpPr txBox="1"/>
            <p:nvPr/>
          </p:nvSpPr>
          <p:spPr>
            <a:xfrm>
              <a:off x="8038541" y="2060440"/>
              <a:ext cx="1856897" cy="1500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自</a:t>
              </a:r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動</a:t>
              </a:r>
              <a:r>
                <a:rPr sz="975" b="0" i="0" u="none" dirty="0" err="1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插入延</a:t>
              </a:r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時</a:t>
              </a:r>
              <a:endParaRPr sz="975" b="0" i="0" u="none" dirty="0">
                <a:solidFill>
                  <a:srgbClr val="E4E4E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2" name="TextBox 46">
              <a:extLst>
                <a:ext uri="{FF2B5EF4-FFF2-40B4-BE49-F238E27FC236}">
                  <a16:creationId xmlns:a16="http://schemas.microsoft.com/office/drawing/2014/main" id="{8D762983-DB32-D571-591C-DF99A3AD6E31}"/>
                </a:ext>
              </a:extLst>
            </p:cNvPr>
            <p:cNvSpPr txBox="1"/>
            <p:nvPr/>
          </p:nvSpPr>
          <p:spPr>
            <a:xfrm>
              <a:off x="7986414" y="1644004"/>
              <a:ext cx="590550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TW" altLang="en-US" sz="975" b="1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開始錄製</a:t>
              </a:r>
            </a:p>
          </p:txBody>
        </p:sp>
        <p:sp>
          <p:nvSpPr>
            <p:cNvPr id="43" name="TextBox 47">
              <a:extLst>
                <a:ext uri="{FF2B5EF4-FFF2-40B4-BE49-F238E27FC236}">
                  <a16:creationId xmlns:a16="http://schemas.microsoft.com/office/drawing/2014/main" id="{B9464C1E-7AD7-2306-0728-42BFA0788A20}"/>
                </a:ext>
              </a:extLst>
            </p:cNvPr>
            <p:cNvSpPr txBox="1"/>
            <p:nvPr/>
          </p:nvSpPr>
          <p:spPr>
            <a:xfrm>
              <a:off x="8038541" y="2361659"/>
              <a:ext cx="1947431" cy="1500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循</a:t>
              </a:r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環</a:t>
              </a:r>
              <a:r>
                <a:rPr sz="975" b="0" i="0" u="none" dirty="0" err="1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直到按</a:t>
              </a:r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鍵鬆開</a:t>
              </a:r>
              <a:endParaRPr sz="975" b="0" i="0" u="none" dirty="0">
                <a:solidFill>
                  <a:srgbClr val="E4E4E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4" name="TextBox 48">
              <a:extLst>
                <a:ext uri="{FF2B5EF4-FFF2-40B4-BE49-F238E27FC236}">
                  <a16:creationId xmlns:a16="http://schemas.microsoft.com/office/drawing/2014/main" id="{672A204D-F615-6AB4-68D7-E3A690C56204}"/>
                </a:ext>
              </a:extLst>
            </p:cNvPr>
            <p:cNvSpPr txBox="1"/>
            <p:nvPr/>
          </p:nvSpPr>
          <p:spPr>
            <a:xfrm>
              <a:off x="8038541" y="2661758"/>
              <a:ext cx="1733826" cy="1500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循</a:t>
              </a:r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環</a:t>
              </a:r>
              <a:r>
                <a:rPr sz="975" b="0" i="0" u="none" dirty="0" err="1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直到任意按</a:t>
              </a:r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鍵</a:t>
              </a:r>
              <a:r>
                <a:rPr sz="975" b="0" i="0" u="none" dirty="0" err="1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按下</a:t>
              </a:r>
              <a:endParaRPr sz="975" b="0" i="0" u="none" dirty="0">
                <a:solidFill>
                  <a:srgbClr val="E4E4E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TextBox 49">
              <a:extLst>
                <a:ext uri="{FF2B5EF4-FFF2-40B4-BE49-F238E27FC236}">
                  <a16:creationId xmlns:a16="http://schemas.microsoft.com/office/drawing/2014/main" id="{D6A6DD0E-B98E-DF9B-9287-A099DEE8A186}"/>
                </a:ext>
              </a:extLst>
            </p:cNvPr>
            <p:cNvSpPr txBox="1"/>
            <p:nvPr/>
          </p:nvSpPr>
          <p:spPr>
            <a:xfrm>
              <a:off x="8038541" y="2949656"/>
              <a:ext cx="845612" cy="1500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sz="975" b="0" i="0" u="none" dirty="0" err="1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指定循</a:t>
              </a:r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環次數</a:t>
              </a:r>
              <a:r>
                <a:rPr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</a:p>
          </p:txBody>
        </p: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9B36619A-6DA6-A57F-2BA1-15E1E05D49CB}"/>
                </a:ext>
              </a:extLst>
            </p:cNvPr>
            <p:cNvGrpSpPr/>
            <p:nvPr/>
          </p:nvGrpSpPr>
          <p:grpSpPr>
            <a:xfrm>
              <a:off x="7834014" y="3685572"/>
              <a:ext cx="2514097" cy="295275"/>
              <a:chOff x="7840930" y="3593896"/>
              <a:chExt cx="3424683" cy="295275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624D4D08-AA3B-189B-4606-4140A157B902}"/>
                  </a:ext>
                </a:extLst>
              </p:cNvPr>
              <p:cNvSpPr/>
              <p:nvPr/>
            </p:nvSpPr>
            <p:spPr>
              <a:xfrm>
                <a:off x="7840930" y="3593896"/>
                <a:ext cx="3424683" cy="295275"/>
              </a:xfrm>
              <a:prstGeom prst="roundRect">
                <a:avLst>
                  <a:gd name="adj" fmla="val 12903"/>
                </a:avLst>
              </a:prstGeom>
              <a:solidFill>
                <a:srgbClr val="18181B"/>
              </a:solidFill>
              <a:ln w="9525">
                <a:solidFill>
                  <a:srgbClr val="3F3F4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D11C0918-FEB2-891A-E593-66A2785582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65589" y="3693908"/>
                <a:ext cx="95250" cy="95250"/>
              </a:xfrm>
              <a:prstGeom prst="rect">
                <a:avLst/>
              </a:prstGeom>
            </p:spPr>
          </p:pic>
          <p:sp>
            <p:nvSpPr>
              <p:cNvPr id="46" name="TextBox 50">
                <a:extLst>
                  <a:ext uri="{FF2B5EF4-FFF2-40B4-BE49-F238E27FC236}">
                    <a16:creationId xmlns:a16="http://schemas.microsoft.com/office/drawing/2014/main" id="{2BF3E545-B7F8-A1A0-F7C4-E511C446FBA5}"/>
                  </a:ext>
                </a:extLst>
              </p:cNvPr>
              <p:cNvSpPr txBox="1"/>
              <p:nvPr/>
            </p:nvSpPr>
            <p:spPr>
              <a:xfrm>
                <a:off x="7945704" y="3660571"/>
                <a:ext cx="1114863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sz="900" b="0" i="0" u="none" dirty="0" err="1">
                    <a:solidFill>
                      <a:srgbClr val="7171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請選擇</a:t>
                </a:r>
                <a:r>
                  <a:rPr sz="900" b="0" i="0" u="none" dirty="0">
                    <a:solidFill>
                      <a:srgbClr val="7171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...</a:t>
                </a:r>
              </a:p>
            </p:txBody>
          </p:sp>
        </p:grpSp>
        <p:sp>
          <p:nvSpPr>
            <p:cNvPr id="48" name="TextBox 46">
              <a:extLst>
                <a:ext uri="{FF2B5EF4-FFF2-40B4-BE49-F238E27FC236}">
                  <a16:creationId xmlns:a16="http://schemas.microsoft.com/office/drawing/2014/main" id="{677F0BEE-BF10-8D08-E616-D80926B49871}"/>
                </a:ext>
              </a:extLst>
            </p:cNvPr>
            <p:cNvSpPr txBox="1"/>
            <p:nvPr/>
          </p:nvSpPr>
          <p:spPr>
            <a:xfrm>
              <a:off x="8884153" y="1642520"/>
              <a:ext cx="590550" cy="150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TW" altLang="en-US" sz="975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停止</a:t>
              </a:r>
              <a:r>
                <a:rPr lang="zh-TW" altLang="en-US" sz="975" b="1" i="0" u="none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錄製</a:t>
              </a:r>
            </a:p>
          </p:txBody>
        </p:sp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034B554F-59D1-51D9-0DB8-87CEA161D957}"/>
                </a:ext>
              </a:extLst>
            </p:cNvPr>
            <p:cNvGrpSpPr/>
            <p:nvPr/>
          </p:nvGrpSpPr>
          <p:grpSpPr>
            <a:xfrm>
              <a:off x="8884153" y="2916370"/>
              <a:ext cx="888214" cy="211955"/>
              <a:chOff x="8884153" y="2916370"/>
              <a:chExt cx="888214" cy="211955"/>
            </a:xfrm>
          </p:grpSpPr>
          <p:sp>
            <p:nvSpPr>
              <p:cNvPr id="51" name="Rounded Rectangle 14">
                <a:extLst>
                  <a:ext uri="{FF2B5EF4-FFF2-40B4-BE49-F238E27FC236}">
                    <a16:creationId xmlns:a16="http://schemas.microsoft.com/office/drawing/2014/main" id="{9B19C227-9875-59C4-3346-0FA3C717F010}"/>
                  </a:ext>
                </a:extLst>
              </p:cNvPr>
              <p:cNvSpPr/>
              <p:nvPr/>
            </p:nvSpPr>
            <p:spPr>
              <a:xfrm>
                <a:off x="8884153" y="2916370"/>
                <a:ext cx="888214" cy="211955"/>
              </a:xfrm>
              <a:prstGeom prst="roundRect">
                <a:avLst>
                  <a:gd name="adj" fmla="val 12903"/>
                </a:avLst>
              </a:prstGeom>
              <a:solidFill>
                <a:srgbClr val="18181B"/>
              </a:solidFill>
              <a:ln w="9525">
                <a:solidFill>
                  <a:srgbClr val="3F3F4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53" name="TextBox 50">
                <a:extLst>
                  <a:ext uri="{FF2B5EF4-FFF2-40B4-BE49-F238E27FC236}">
                    <a16:creationId xmlns:a16="http://schemas.microsoft.com/office/drawing/2014/main" id="{655052AD-5D49-AB3B-2B7B-ED2D40FCE47A}"/>
                  </a:ext>
                </a:extLst>
              </p:cNvPr>
              <p:cNvSpPr txBox="1"/>
              <p:nvPr/>
            </p:nvSpPr>
            <p:spPr>
              <a:xfrm>
                <a:off x="8969187" y="2950225"/>
                <a:ext cx="428002" cy="138499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TW" sz="900" b="0" i="0" u="none" dirty="0">
                    <a:solidFill>
                      <a:srgbClr val="7171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(1~255)</a:t>
                </a:r>
                <a:endParaRPr sz="900" b="0" i="0" u="none" dirty="0">
                  <a:solidFill>
                    <a:srgbClr val="71717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55" name="TextBox 49">
              <a:extLst>
                <a:ext uri="{FF2B5EF4-FFF2-40B4-BE49-F238E27FC236}">
                  <a16:creationId xmlns:a16="http://schemas.microsoft.com/office/drawing/2014/main" id="{468C4C07-6118-E7EA-8080-CDF0B5A1CF08}"/>
                </a:ext>
              </a:extLst>
            </p:cNvPr>
            <p:cNvSpPr txBox="1"/>
            <p:nvPr/>
          </p:nvSpPr>
          <p:spPr>
            <a:xfrm>
              <a:off x="7833867" y="3445862"/>
              <a:ext cx="845612" cy="15004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TW" altLang="en-US" sz="975" b="0" i="0" u="none" dirty="0">
                  <a:solidFill>
                    <a:srgbClr val="E4E4E7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插入事件</a:t>
              </a:r>
              <a:endParaRPr sz="975" b="0" i="0" u="none" dirty="0">
                <a:solidFill>
                  <a:srgbClr val="E4E4E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8114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11675</TotalTime>
  <Words>1179</Words>
  <Application>Microsoft Office PowerPoint</Application>
  <PresentationFormat>寬螢幕</PresentationFormat>
  <Paragraphs>222</Paragraphs>
  <Slides>15</Slides>
  <Notes>0</Notes>
  <HiddenSlides>5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微軟正黑體</vt:lpstr>
      <vt:lpstr>Calibri</vt:lpstr>
      <vt:lpstr>微軟正黑體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Chihyu Kuo 郭至煜</cp:lastModifiedBy>
  <cp:revision>30</cp:revision>
  <dcterms:created xsi:type="dcterms:W3CDTF">2013-01-27T09:14:16Z</dcterms:created>
  <dcterms:modified xsi:type="dcterms:W3CDTF">2026-10-19T01:52:43Z</dcterms:modified>
  <cp:category/>
</cp:coreProperties>
</file>